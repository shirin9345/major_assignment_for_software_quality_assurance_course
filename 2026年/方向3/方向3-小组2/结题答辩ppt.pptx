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72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我们的项目——ArkRepair，一个致力于实现代码缺陷智能修复的自动化工具。本项目旨在解决OpenHarmony应用开发中的痛点，提升开发效率与软件质量。接下来，我将详细阐述我们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本次答辩将分为四个部分。首先，我会简要介绍项目的整体完成情况，包括背景、目标和架构。接着，将通过一系列截图详细展示我们开发的工具原型。之后是对项目的总结与未来的展望。最后是结语。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我们发现，OpenHarmony生态在应用稳定性方面存在短板，而现有的开发工具功能分散，未能形成合力。因此，我们的目标是构建一个名为ArkRepair的一体化工具链，打通从缺陷检测到自动修复的全流程，从而提升应用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是我们设计的ArkRepair整体架构。如图所示，数据从静态扫描开始，经过动态监控、数据融合，再到补丁生成和最终的动态验证，形成了一个完整的自动化修复闭环。右侧的架构图直观地展示了各组件间的协作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实施过程中，我们主要完成了三项工作：首先，成功集成了三款核心工具，打通了数据链路；其次，开发了可视化的原型系统，提升了工具的易用性；最后，通过在实际项目上的验证，证明了我们方案的可行性和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详细展示部分。首先，我们来看一个典型的代码缺陷：硬编码密钥。如这张图所示，开发者为了方便，将API密钥直接写在代码里，这无疑带来了巨大的安全风险。我们的工具正是为了解决这类问题而设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这是我们工具的规则配置界面。用户可以根据自己的项目需求，灵活地开启或关闭不同的缺陷检测规则，比如资源管理、生命周期检查等。这体现了工具的灵活性和可扩展性。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工具的核心——可视化修复流水线。整个流程从静态扫描开始，经过缺陷扫描、上下文提取，再到RAG检索、LLM补丁生成和最终的约束验证，每一步都清晰可见。这大大降低了开发者使用高级修复技术的门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扫描完成后，工具会生成一个清晰的缺陷列表。如图所示，我们可以看到扫描出了两个高风险的硬编码密钥缺陷。列表中包含了缺陷类型、严重等级、位置以及详细的修复建议，方便开发者快速定位和理解问题。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修复完成后，我们的工具还能生成一份专业的修复报告。报告中包含了项目概览、缺陷统计、修复详情等信息，便于开发者归档和追溯。这体现了我们工具的专业性和完整性。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与展望。我们成功构建了ArkRepair工具链，实现了自动化修复，提升了开发效率。展望未来，我们计划扩展缺陷类型支持，优化修复算法，并最终将其开发成IDE原生插件，构建开源社区，为OpenHarmony生态贡献更多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我的汇报到此结束。正如我们所相信的，创新是站在巨人肩膀上的二次创造。感谢各位老师的聆听！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3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29.svg"/><Relationship Id="rId10" Type="http://schemas.openxmlformats.org/officeDocument/2006/relationships/image" Target="../media/image33.svg"/><Relationship Id="rId4" Type="http://schemas.openxmlformats.org/officeDocument/2006/relationships/image" Target="../media/image28.svg"/><Relationship Id="rId9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Noto Sans SC"/>
                <a:sym typeface="Noto Sans SC"/>
              </a:rPr>
              <a:t>ArkRepair</a:t>
            </a:r>
            <a:endParaRPr lang="en-US" sz="11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334000" y="40005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代码缺陷智能修复工具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5715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584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</a:t>
            </a:r>
            <a:r>
              <a:rPr lang="zh-CN" alt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zh-CN" sz="1600" b="1" dirty="0">
                <a:solidFill>
                  <a:schemeClr val="bg1"/>
                </a:solidFill>
              </a:rPr>
              <a:t>张培阳、陈里凡、向晓宣、李炳震、蔡麟</a:t>
            </a:r>
            <a:endParaRPr lang="en-US" sz="1100" b="1" dirty="0">
              <a:solidFill>
                <a:schemeClr val="bg1"/>
              </a:solidFill>
            </a:endParaRPr>
          </a:p>
        </p:txBody>
      </p:sp>
      <p:cxnSp>
        <p:nvCxnSpPr>
          <p:cNvPr id="8" name="Connector 8"/>
          <p:cNvCxnSpPr/>
          <p:nvPr/>
        </p:nvCxnSpPr>
        <p:spPr>
          <a:xfrm rot="5314074">
            <a:off x="5842000" y="6089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223000" y="584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</a:t>
            </a:r>
            <a:r>
              <a:rPr lang="en-US" sz="1600" b="1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2026年6月29日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61804">
            <a:off x="1460500" y="2851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286000" y="2222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项目完成情况简述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279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系统梳理项目背景与建设目标，阐述整体架构设计思路，回顾项目执行关键节点，概括核心功能的落地完成度。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286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61804">
            <a:off x="6921500" y="2851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747000" y="2222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核心成果详细展示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7000" y="279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通过原型界面与功能演示，直观呈现开发工具的核心操作流程与交互逻辑，重点展示技术实现的创新点与应用价值。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61804">
            <a:off x="1460500" y="5010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2286000" y="438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项目总结与未来展望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86000" y="495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深度复盘项目实施中的经验与不足，结合当前技术趋势，规划后续迭代方向与功能拓展计划，明确下一阶段发展重点。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445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61804">
            <a:off x="6921500" y="5010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747000" y="438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答辩结语与致谢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47000" y="495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梳理项目带来的启发与感悟，对指导老师与团队成员的付出表示感谢，表达持续探索技术边界、不断精进的决心。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59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生态短板：稳定性不足，工具链空白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2065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206500" y="28575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OpenHarmony应用崩溃率高于主流系统，而针对ArkTS语言的自动化修复工具链存在明显空白，无法有效支撑开发者提升应用质量。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952508" y="405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25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254500"/>
            <a:ext cx="400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工具孤岛，缺乏协同：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现有ArkAnalyzer、HapTest、SemFix等工具功能独立，数据不互通，未能形成从检测到修复的完整闭环，增加了开发者的操作成本。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1905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2159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02500" y="2159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核心目标：构建ArkRepair智能修复工具链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6731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731000" y="28575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整合ArkAnalyzer、HapTest、SemFix三款成熟工具，打造一体化的自动化代码缺陷修复平台，填补ArkTS语言生态的工具空白。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6477008" y="405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254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02500" y="4254500"/>
            <a:ext cx="400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全流程闭环，赋能开发提效：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打通“缺陷检测→动态验证→补丁生成”的全流程，显著降低应用崩溃率，提升OpenHarmony应用的开发质量与系统整体稳定性。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795000" cy="635000"/>
          </a:xfrm>
          <a:prstGeom prst="roundRect">
            <a:avLst>
              <a:gd name="adj" fmla="val 0"/>
            </a:avLst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9436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以解决生态痛点为起点，以工具链整合为核心，实现从单点工具到系统化解决方案的跨越，夯实OpenHarmony应用生态底座。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2. 项目架构与流程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857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2006600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01. 静态扫描 (ArkAnalyzer)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6769">
            <a:off x="889015" y="2533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667000"/>
            <a:ext cx="260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对项目源代码进行全面扫描分析，利用语法解析与缺陷模式匹配技术，快速定位潜在的代码缺陷与安全隐患。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905250" y="1909233"/>
            <a:ext cx="2857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50" y="2036233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413250" y="2010833"/>
            <a:ext cx="222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6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多维数据融合分析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16769">
            <a:off x="4032265" y="2537883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032250" y="2671233"/>
            <a:ext cx="260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将静态扫描的代码特征与动态监控的运行轨迹进行关联映射，通过算法交叉验证，精准锁定缺陷产生的根本原因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1999" y="3937000"/>
            <a:ext cx="2857499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1" y="4063999"/>
            <a:ext cx="406399" cy="381001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42158" y="4106333"/>
            <a:ext cx="246784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14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补丁生成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956828" y="4542367"/>
            <a:ext cx="246784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基于语义修复技术，针对缺陷点自动生成候选补丁方案</a:t>
            </a:r>
            <a:r>
              <a:rPr lang="en-US" sz="12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3902940" y="3937000"/>
            <a:ext cx="282806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3440" y="4097867"/>
            <a:ext cx="387812" cy="381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637835" y="4140200"/>
            <a:ext cx="244241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04. </a:t>
            </a:r>
            <a:r>
              <a:rPr lang="en-US" sz="14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动态验证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4112792" y="4320117"/>
            <a:ext cx="244241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自动化回归测试验证补丁有效性，确保无新问题引入</a:t>
            </a:r>
            <a:r>
              <a:rPr lang="en-US" sz="12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rcRect l="7500" r="7499"/>
          <a:stretch>
            <a:fillRect/>
          </a:stretch>
        </p:blipFill>
        <p:spPr>
          <a:xfrm>
            <a:off x="7112000" y="1905000"/>
            <a:ext cx="4318000" cy="317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7112000" y="5270500"/>
            <a:ext cx="43180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239000" y="5397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架构视图直观展示了Harmony前端、Spring Boot后端、数据存储层与ArkRepair工具链的无缝集成，实现了从代码分析到自动修复的全链路打通。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3. 已完成工作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00200" y="2311400"/>
            <a:ext cx="228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532467" y="1778000"/>
            <a:ext cx="4064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532467" y="1777999"/>
            <a:ext cx="4064000" cy="58615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6466" y="2095499"/>
            <a:ext cx="550015" cy="550015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370666" y="2057400"/>
            <a:ext cx="2750075" cy="6154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原型系统开发</a:t>
            </a:r>
            <a:endParaRPr lang="en-US" sz="1100" dirty="0"/>
          </a:p>
        </p:txBody>
      </p:sp>
      <p:cxnSp>
        <p:nvCxnSpPr>
          <p:cNvPr id="14" name="Connector 14"/>
          <p:cNvCxnSpPr>
            <a:cxnSpLocks/>
          </p:cNvCxnSpPr>
          <p:nvPr/>
        </p:nvCxnSpPr>
        <p:spPr>
          <a:xfrm flipV="1">
            <a:off x="1786467" y="2856876"/>
            <a:ext cx="3452903" cy="62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786467" y="3111499"/>
            <a:ext cx="3452872" cy="19782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引入了</a:t>
            </a:r>
            <a:r>
              <a:rPr lang="en-US" sz="18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ArkRepair可视化原型工具，集成规则配置、缺陷可视化查看、一键自动修复及修复报告导出功能，降低了工具使用门槛，提升了交互体验与操作便捷性。</a:t>
            </a:r>
            <a:endParaRPr lang="en-US" sz="1800" dirty="0"/>
          </a:p>
        </p:txBody>
      </p:sp>
      <p:sp>
        <p:nvSpPr>
          <p:cNvPr id="16" name="AutoShape 16"/>
          <p:cNvSpPr/>
          <p:nvPr/>
        </p:nvSpPr>
        <p:spPr>
          <a:xfrm>
            <a:off x="6095999" y="1777999"/>
            <a:ext cx="4436533" cy="3809999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095999" y="1777999"/>
            <a:ext cx="4436533" cy="58615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999" y="2095499"/>
            <a:ext cx="600433" cy="600433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34199" y="2057399"/>
            <a:ext cx="3002165" cy="61546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真实场景验证</a:t>
            </a:r>
            <a:endParaRPr lang="en-US" sz="1100"/>
          </a:p>
        </p:txBody>
      </p:sp>
      <p:cxnSp>
        <p:nvCxnSpPr>
          <p:cNvPr id="20" name="Connector 20"/>
          <p:cNvCxnSpPr>
            <a:cxnSpLocks/>
          </p:cNvCxnSpPr>
          <p:nvPr/>
        </p:nvCxnSpPr>
        <p:spPr>
          <a:xfrm flipV="1">
            <a:off x="6350000" y="2855475"/>
            <a:ext cx="3769413" cy="20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349999" y="3111499"/>
            <a:ext cx="3769385" cy="19782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基于“Translation</a:t>
            </a:r>
            <a:r>
              <a:rPr lang="en-US" sz="18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 App”开源项目开展验证，成功定位并修复了API密钥硬编码、空值处理逻辑不完善等典型缺陷，充分验证了方案在实际工程中的可行性与有效性。</a:t>
            </a:r>
            <a:endParaRPr lang="en-US" sz="18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通过可视化赋能与真实场景落地，我们构建了从缺陷检测到自动修复的完整技术体系，为项目质量保障提供了坚实支撑</a:t>
            </a:r>
            <a:r>
              <a:rPr lang="en-US" sz="14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4.1 问题引入：典型代码缺陷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01. 典型场景：硬编码密钥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91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3111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在日常开发过程中，开发者为了便捷调试或快速上线，常将 API 密钥、数据库密码等核心敏感信息直接以字符串形式“硬编码”写入业务代码文件中。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31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4292600"/>
            <a:ext cx="4000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核心风险：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代码一旦随版本库泄露或被逆向解析，攻击者可直接获取生产环境权限，造成数据泄露、恶意调用等不可逆的安全事故。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715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示例：代码中直接暴露</a:t>
            </a:r>
            <a:r>
              <a:rPr lang="en-US" sz="13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`APP_ID`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3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`SECRET_KEY`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，缺乏任何加密与环境隔离机制。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9257">
            <a:off x="4318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5461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31000" y="55626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代码审计视角：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如截图所示，关键凭证以明文形式出现在核心业务文件中，极易被自动化扫描工具捕获，是高危且常见的安全漏洞。</a:t>
            </a:r>
            <a:endParaRPr lang="en-US" sz="110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23F6A11-833E-46BB-1264-1CEE9CD63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00" y="17526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4.2 工具展示：规则配置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ArkRepair 规则配置中心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用户可根据项目架构与业务需求，灵活配置并启用差异化的缺陷检测规则，精准适配各类开发场景，实现检测能力的高度定制与扩展。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185">
            <a:off x="762008" y="3803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4191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292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资源管理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精准识别未释放监听器、冗余内存占用等资源泄漏风险，保障应用运行效率。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56000" y="4191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56000" y="419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746500" y="4292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生命周期管控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自动检测缺失onDestroy方法、生命周期回调异常等问题，规范组件生命周期管理。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5562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类型安全校验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严格检查类型不匹配、强制类型转换风险，规避运行时ClassCastException异常。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556000" y="5461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556000" y="546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746500" y="5562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自定义扩展规则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支持通过脚本或配置文件添加项目专属检测逻辑，满足团队个性化代码规范要求。</a:t>
            </a:r>
          </a:p>
        </p:txBody>
      </p:sp>
      <p:cxnSp>
        <p:nvCxnSpPr>
          <p:cNvPr id="19" name="Connector 19"/>
          <p:cNvCxnSpPr/>
          <p:nvPr/>
        </p:nvCxnSpPr>
        <p:spPr>
          <a:xfrm rot="5389889">
            <a:off x="4318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731000" y="5461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图示为ArkRepair规则配置界面，提供可视化的开关与参数调节面板，用户可直观地启用/禁用规则、调整检测阈值，并实时预览配置文件结构，操作简洁高效。</a:t>
            </a:r>
            <a:endParaRPr lang="en-US" sz="11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F1F9ABF-BBF4-E457-8354-AA747482A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284" y="1974851"/>
            <a:ext cx="5513493" cy="3445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4.3 工具展示：修复流水线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222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59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全流程可视化闭环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直观串联“静态扫描-缺陷分析-LLM生成-动态验证”全链路，将抽象的修复逻辑转化为可视化的执行节点，流程清晰可控。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46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683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实时状态全链路追踪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实时反馈流水线各阶段状态，精准标记“待执行、执行中、成功、失败”节点，让问题定位与进度监控变得简单高效。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270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207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自动化赋能降低门槛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将复杂的缺陷修复逻辑封装为自动化流水线，开发者无需深入底层技术细节，即可利用高级AI能力完成高质量代码修复。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477000" y="5651500"/>
            <a:ext cx="4953000" cy="7620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5740400"/>
            <a:ext cx="469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ArkRepair工具界面：集成代码构建、多维度缺陷扫描与LLM补丁生成，一站式解决代码修复难题，显著提升研发效率。</a:t>
            </a:r>
            <a:endParaRPr lang="en-US" sz="110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BD79AA9-41E3-5702-6788-01791DB47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833562"/>
            <a:ext cx="5918200" cy="3698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4.4 工具展示：缺陷列表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6930" y="1392766"/>
            <a:ext cx="2387598" cy="1604433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36930" y="1392766"/>
            <a:ext cx="45719" cy="1604433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540934"/>
            <a:ext cx="2208528" cy="12478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 dirty="0" err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智能扫描结果展示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 err="1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工具完成代码扫描后，自动聚合所有检测数据，以结构化列表形式直观呈现缺陷全貌，帮助团队快速掌握项目安全现状</a:t>
            </a:r>
            <a:r>
              <a:rPr lang="en-US" sz="14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619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619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精准定位类型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23267"/>
            <a:ext cx="2476500" cy="601133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16401"/>
            <a:ext cx="355600" cy="397934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267201"/>
            <a:ext cx="1778000" cy="34713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分级风险评估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2476500" cy="601133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486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5486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代码位置溯源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724400"/>
            <a:ext cx="2476500" cy="601133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8768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33500" y="48768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专业修复建议</a:t>
            </a:r>
            <a:endParaRPr lang="en-US" sz="110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756C95F5-F0DC-62F5-F3D1-3B88064BD5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9799" y="1413933"/>
            <a:ext cx="7343986" cy="4589991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264150" y="4940299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缺陷列表实战示例：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图中展示了扫描出的高风险“硬编码API密钥”缺陷。列表直观呈现了风险等级、代码位置与上下文，并附带具体的处置建议，帮助开发人员即刻着手修复，保障代码安全合规。</a:t>
            </a:r>
            <a:endParaRPr lang="en-US" sz="1100" dirty="0"/>
          </a:p>
        </p:txBody>
      </p:sp>
      <p:sp>
        <p:nvSpPr>
          <p:cNvPr id="39" name="AutoShape 4">
            <a:extLst>
              <a:ext uri="{FF2B5EF4-FFF2-40B4-BE49-F238E27FC236}">
                <a16:creationId xmlns:a16="http://schemas.microsoft.com/office/drawing/2014/main" id="{58D21065-6F66-4596-9742-F6768501721A}"/>
              </a:ext>
            </a:extLst>
          </p:cNvPr>
          <p:cNvSpPr/>
          <p:nvPr/>
        </p:nvSpPr>
        <p:spPr>
          <a:xfrm>
            <a:off x="5162552" y="4793192"/>
            <a:ext cx="4800598" cy="1036107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FCF474C5-D04B-0BD9-7188-B3065CD806B9}"/>
              </a:ext>
            </a:extLst>
          </p:cNvPr>
          <p:cNvSpPr/>
          <p:nvPr/>
        </p:nvSpPr>
        <p:spPr>
          <a:xfrm>
            <a:off x="5162552" y="4793192"/>
            <a:ext cx="91924" cy="1036107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4.5 工具展示：报告导出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685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项目基本信息归档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自动汇总项目名称、扫描时间、版本信息等基础档案，为修复工作建立完整的溯源依据，便于后期审计与管理。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175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多维扫描数据概览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直观呈现总缺陷数、风险等级分布及各类漏洞占比，通过可视化图表快速掌握系统安全现状与核心风险点。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2545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全流程修复过程留痕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详细记录修复的具体缺陷、应用的补丁方案及人工验证结果，清晰还原修复动作，确保每一处修改可追踪、可复现。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2705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2705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334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修复前后性能指标对比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量化展示修复对系统响应速度、资源占用等关键性能指标的影响，用数据佐证修复方案的安全性与高效性。</a:t>
            </a:r>
          </a:p>
        </p:txBody>
      </p:sp>
      <p:cxnSp>
        <p:nvCxnSpPr>
          <p:cNvPr id="20" name="Connector 20"/>
          <p:cNvCxnSpPr/>
          <p:nvPr/>
        </p:nvCxnSpPr>
        <p:spPr>
          <a:xfrm rot="5389889">
            <a:off x="4318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731000" y="53975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858000" y="5461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ArkRepair工具支持一键导出多格式报告（JSON/PNG/HTML），界面直观展示扫描结果与修复建议，让技术归档和团队协作更加高效规范。</a:t>
            </a:r>
            <a:endParaRPr lang="en-US" sz="110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98CEE99-8DB3-1948-EDD4-74FF272A8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693" y="1732493"/>
            <a:ext cx="5457613" cy="3411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5. 总结和展望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84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8956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成功构建ArkRepair工具链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打通静态分析、动态监控与自动修复的数据壁垒，建立全流程自动化的代码缺陷修复体系，实现从检测到修复的闭环。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1656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显著提升开发效率与质量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将人工修复工作自动化，大幅降低开发者负担，有效减少人为疏漏，从根源上提升软件系统的稳定性与可靠性。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2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461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3721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具备广阔的生态应用前景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成果对OpenHarmony生态代码质量提升意义重大，且具备向IDE插件转化的潜力，可赋能更广泛的开发者群体。</a:t>
            </a:r>
          </a:p>
        </p:txBody>
      </p:sp>
      <p:cxnSp>
        <p:nvCxnSpPr>
          <p:cNvPr id="15" name="Connector 15"/>
          <p:cNvCxnSpPr/>
          <p:nvPr/>
        </p:nvCxnSpPr>
        <p:spPr>
          <a:xfrm rot="5389889">
            <a:off x="4064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03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未来展望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794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946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2946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扩展缺陷类型支持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834">
            <a:off x="66675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04000" y="355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深度挖掘ArkTS特有缺陷模式，增加对复杂场景、边界案例的识别与自动化修复能力，覆盖更多代码场景。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0" y="2794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29464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715500" y="2946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优化AI修复算法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834">
            <a:off x="93345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271000" y="355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引入先进大模型技术，优化代码补丁生成逻辑，提升修复方案的准确性、可读性与成功率，减少人工干预成本。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826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9784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978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开发IDE原生插件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20834">
            <a:off x="6667519" y="5454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604000" y="55626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将ArkRepair无缝集成至DevEco Studio，提供“一键修复”功能，让开发者在开发流程中直接享受工具便利。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44000" y="4826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4500" y="49784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715500" y="4978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共建开源社区生态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20834">
            <a:off x="9334519" y="5454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9271000" y="55626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建立标准化缺陷基准数据集，开放工具代码，吸引社区开发者共建，推动OpenHarmony代码质量生态持续进化。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“创新不是从零开始，而是站在巨人肩膀上的二次创造”</a:t>
            </a:r>
            <a:endParaRPr lang="en-US" sz="11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3A44A3-72FD-4866-2BA1-C6A69236648C}"/>
              </a:ext>
            </a:extLst>
          </p:cNvPr>
          <p:cNvSpPr txBox="1"/>
          <p:nvPr/>
        </p:nvSpPr>
        <p:spPr>
          <a:xfrm>
            <a:off x="3073400" y="5978722"/>
            <a:ext cx="7067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项目地址：</a:t>
            </a:r>
            <a:r>
              <a:rPr lang="en-US" altLang="zh-CN" dirty="0">
                <a:solidFill>
                  <a:schemeClr val="bg1"/>
                </a:solidFill>
              </a:rPr>
              <a:t>https://gitcode.com/2301_79275625/OpenHarmony/tree/master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宽屏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MS UI Gothic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Natto mou</cp:lastModifiedBy>
  <cp:revision>1</cp:revision>
  <dcterms:modified xsi:type="dcterms:W3CDTF">2026-06-27T16:44:31Z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{"Label":"1","ContentProducer":"001191110102MACQD9K64010000","ProduceID":"7656111175192857798","ReservedCode1":"","ContentPropagator":"","PropagateID":"","ReservedCode2":""}</vt:lpwstr>
  </property>
</Properties>
</file>