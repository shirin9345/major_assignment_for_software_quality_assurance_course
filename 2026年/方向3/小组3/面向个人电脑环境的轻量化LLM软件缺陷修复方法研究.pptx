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56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54864" cy="2560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09728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面向个人电脑环境的轻量化LLM</a:t>
            </a:r>
            <a:endParaRPr lang="en-US" sz="3200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软件缺陷修复方法研究</a:t>
            </a:r>
            <a:endParaRPr lang="en-US" sz="3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63EB"/>
                </a:solidFill>
                <a:latin typeface="+mn-ea"/>
                <a:cs typeface="Arial" pitchFamily="34" charset="-120"/>
              </a:rPr>
              <a:t>—— 基于HapRepair框架的实证分析</a:t>
            </a:r>
            <a:endParaRPr lang="en-US" sz="18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0" y="118872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188720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1188720"/>
            <a:ext cx="137160" cy="13716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94A3B8"/>
                </a:solidFill>
              </a:rPr>
              <a:t>组长</a:t>
            </a:r>
            <a:r>
              <a:rPr lang="en-US" altLang="zh-CN" sz="1300" dirty="0" err="1">
                <a:solidFill>
                  <a:srgbClr val="94A3B8"/>
                </a:solidFill>
              </a:rPr>
              <a:t>&amp;</a:t>
            </a:r>
            <a:r>
              <a:rPr lang="en-US" sz="1300" dirty="0" err="1">
                <a:solidFill>
                  <a:srgbClr val="94A3B8"/>
                </a:solidFill>
              </a:rPr>
              <a:t>答辩人：高敏耀</a:t>
            </a:r>
            <a:r>
              <a:rPr lang="en-US" sz="1300" dirty="0">
                <a:solidFill>
                  <a:srgbClr val="94A3B8"/>
                </a:solidFill>
              </a:rPr>
              <a:t>    |    软件质量保障</a:t>
            </a:r>
            <a:r>
              <a:rPr lang="en-US" altLang="zh-CN" sz="1300" dirty="0">
                <a:solidFill>
                  <a:srgbClr val="94A3B8"/>
                </a:solidFill>
              </a:rPr>
              <a:t>-</a:t>
            </a:r>
            <a:r>
              <a:rPr lang="en-US" sz="1300" dirty="0">
                <a:solidFill>
                  <a:srgbClr val="94A3B8"/>
                </a:solidFill>
              </a:rPr>
              <a:t>方向</a:t>
            </a:r>
            <a:r>
              <a:rPr lang="en-US" altLang="zh-CN" sz="1300" dirty="0">
                <a:solidFill>
                  <a:srgbClr val="94A3B8"/>
                </a:solidFill>
              </a:rPr>
              <a:t>3-</a:t>
            </a:r>
            <a:r>
              <a:rPr lang="zh-CN" altLang="en-US" sz="1300" dirty="0">
                <a:solidFill>
                  <a:srgbClr val="94A3B8"/>
                </a:solidFill>
              </a:rPr>
              <a:t>小组</a:t>
            </a:r>
            <a:r>
              <a:rPr lang="en-US" altLang="zh-CN" sz="1300" dirty="0">
                <a:solidFill>
                  <a:srgbClr val="94A3B8"/>
                </a:solidFill>
              </a:rPr>
              <a:t>3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研究背景与问题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LLM在软件缺陷修复中的潜力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大型语言模型(LLM)在软件缺陷检测与修复领域展现出巨大潜力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现有方法依赖高端服务器集群(4×A100 GPU)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ArkTS等新兴语言缺乏公开训练数据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云端API存在隐私泄露和服务中断风险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核心研究问题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通过缩小模型规模、优化RAG策略和扩充高质量修复数据集，能否在牺牲少量修复精度的前提下，实现本地化、低成本的缺陷自动修复？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HapRepair框架概述</a:t>
            </a:r>
            <a:endParaRPr lang="en-US" sz="2400" dirty="0"/>
          </a:p>
        </p:txBody>
      </p:sp>
      <p:pic>
        <p:nvPicPr>
          <p:cNvPr id="5" name="Image 0" descr="/Users/frieren/.trae-cn/work/6a40f09d1652f089f6f41bf5/extracted_images/word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92705" y="973836"/>
            <a:ext cx="595859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11480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160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缺陷检测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CodeLinter静态分析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965960" y="4297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4884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411480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2240280" y="4160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上下文提取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环绕上下文+项目级信息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4297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4048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840480" y="411480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0" y="4160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RAG检索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检索top-k相似修复对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49240" y="4297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53212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32120" y="411480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5623560" y="4160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8B5CF6"/>
                </a:solidFill>
              </a:rPr>
              <a:t>LLM修复</a:t>
            </a:r>
            <a:r>
              <a:rPr lang="zh-CN" altLang="en-US" sz="1100" b="1" dirty="0">
                <a:solidFill>
                  <a:srgbClr val="8B5CF6"/>
                </a:solidFill>
              </a:rPr>
              <a:t>（开销最大）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生成修复补丁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40880" y="4297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223760" y="411480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223760" y="411480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0" y="4160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完整性检查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验证编译与逻辑一致性</a:t>
            </a:r>
            <a:endParaRPr lang="en-US" sz="11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8385FCB-BB13-EFAD-0787-93F5A741C1BE}"/>
              </a:ext>
            </a:extLst>
          </p:cNvPr>
          <p:cNvSpPr/>
          <p:nvPr/>
        </p:nvSpPr>
        <p:spPr>
          <a:xfrm>
            <a:off x="2240280" y="2128603"/>
            <a:ext cx="1259923" cy="7869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5A3E774-D190-8D69-BC68-0DAD08C41973}"/>
              </a:ext>
            </a:extLst>
          </p:cNvPr>
          <p:cNvSpPr/>
          <p:nvPr/>
        </p:nvSpPr>
        <p:spPr>
          <a:xfrm>
            <a:off x="3794760" y="2742300"/>
            <a:ext cx="795228" cy="78698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核心问题与改进方向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问题一：高昂硬件成本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原始方案需4×A100 80GB GPU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使用72B+参数LLM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个人电脑无法满足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问题二：云端依赖风险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网络服务中断风险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按Token计费的持续成本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敏感代码的隐私泄露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0058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00584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问题三：新兴语言数据不足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ArkTS缺乏公开训练数据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小模型知识储备有限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需要更多的外部知识库辅助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563EB"/>
                </a:solidFill>
              </a:rPr>
              <a:t>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71600" y="3291840"/>
            <a:ext cx="6400800" cy="13716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383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我们的解决方案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7033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① 模型轻量化选择：用小参数LLM替代72B+大模型，支持16GB显存运行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② RAG数据集扩展：从271对扩展至636对高质量修复范例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③ 代码完整性检查改进：增加功能一致性验证，避免引入新缺陷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三项核心工作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1887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模型轻量化选择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选取4款小参数量化模型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涵盖MoE与Dense两种架构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通过量化技术降低内存占用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支持16GB显存GPU独立运行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1887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RAG数据集扩展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3317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原始271对 → 扩展至636对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手动构建并验证高质量范例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深入分析项目代码库与提交记录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为小模型提供更丰富的参考数据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00584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1887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完整性检查改进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3317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LLM生成补丁后增加验证步骤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尝试编译修复后代码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关键行为逻辑比对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异常时自动回滚至原始代码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实验设计：模型与项目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实验模型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42481"/>
              </p:ext>
            </p:extLst>
          </p:nvPr>
        </p:nvGraphicFramePr>
        <p:xfrm>
          <a:off x="457200" y="1280160"/>
          <a:ext cx="411480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架构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量化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GPT-OSS-20B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mxfp4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Qwen3-Coder-30B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MoE (激活3B)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Q3_K_L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Deepseek-R1-8B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Dense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Q4_K_M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Gemma 4 26B A4B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MoE (激活4B)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Q4_K_L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029200" y="676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测试项目</a:t>
            </a:r>
            <a:r>
              <a:rPr lang="zh-CN" alt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（从原始项目测试集中节选）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088136"/>
            <a:ext cx="3657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088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amqplib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1088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消息队列库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63840" y="10881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19个缺陷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0" y="1545336"/>
            <a:ext cx="3657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1545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Arkts_tutorial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1545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ArkTS教程项目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15453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33个缺陷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2002536"/>
            <a:ext cx="3657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20025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2002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图库应用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20025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25个缺陷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2459736"/>
            <a:ext cx="3657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24597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node-pop3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2459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POP3邮件客户端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63840" y="2459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73个缺陷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2916936"/>
            <a:ext cx="3657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120640" y="2916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wifi_testapp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75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WiFi测试应用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63840" y="29169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109个缺陷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460204"/>
            <a:ext cx="8229600" cy="13861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3383280"/>
            <a:ext cx="8229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测试环境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" y="3780244"/>
            <a:ext cx="7863840" cy="1066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</a:rPr>
              <a:t>客户端：</a:t>
            </a:r>
            <a:r>
              <a:rPr lang="en-US" sz="1100" dirty="0">
                <a:solidFill>
                  <a:srgbClr val="475569"/>
                </a:solidFill>
              </a:rPr>
              <a:t>Apple Silicon M4, 24GB RAM, macOS</a:t>
            </a:r>
            <a:r>
              <a:rPr lang="zh-CN" altLang="en-US" sz="1100" dirty="0">
                <a:solidFill>
                  <a:srgbClr val="475569"/>
                </a:solidFill>
              </a:rPr>
              <a:t> </a:t>
            </a:r>
            <a:r>
              <a:rPr lang="en-US" altLang="zh-CN" sz="1100" dirty="0">
                <a:solidFill>
                  <a:srgbClr val="475569"/>
                </a:solidFill>
              </a:rPr>
              <a:t>26.5.1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 err="1">
                <a:solidFill>
                  <a:srgbClr val="1E293B"/>
                </a:solidFill>
              </a:rPr>
              <a:t>服务端：</a:t>
            </a:r>
            <a:r>
              <a:rPr lang="en-US" sz="1100" dirty="0" err="1">
                <a:solidFill>
                  <a:srgbClr val="1E293B"/>
                </a:solidFill>
              </a:rPr>
              <a:t>Intel</a:t>
            </a:r>
            <a:r>
              <a:rPr lang="zh-CN" altLang="en-US" sz="1100" dirty="0">
                <a:solidFill>
                  <a:srgbClr val="1E293B"/>
                </a:solidFill>
              </a:rPr>
              <a:t> </a:t>
            </a:r>
            <a:r>
              <a:rPr lang="en-US" altLang="zh-CN" sz="1100" dirty="0">
                <a:solidFill>
                  <a:srgbClr val="1E293B"/>
                </a:solidFill>
              </a:rPr>
              <a:t>Core</a:t>
            </a:r>
            <a:r>
              <a:rPr lang="zh-CN" altLang="en-US" sz="1100" b="1" dirty="0">
                <a:solidFill>
                  <a:srgbClr val="1E293B"/>
                </a:solidFill>
              </a:rPr>
              <a:t> </a:t>
            </a:r>
            <a:r>
              <a:rPr lang="en-US" sz="1100" dirty="0">
                <a:solidFill>
                  <a:srgbClr val="475569"/>
                </a:solidFill>
              </a:rPr>
              <a:t>i9-13980HX, 64GB RAM, RTX 4090 Laptop (16GB VRAM), Windows 11 25H2, LM </a:t>
            </a:r>
            <a:r>
              <a:rPr lang="en-US" sz="1100" dirty="0" err="1">
                <a:solidFill>
                  <a:srgbClr val="475569"/>
                </a:solidFill>
              </a:rPr>
              <a:t>Studio推理</a:t>
            </a:r>
            <a:r>
              <a:rPr lang="zh-CN" altLang="en-US" sz="1100" b="1" dirty="0">
                <a:solidFill>
                  <a:srgbClr val="00B050"/>
                </a:solidFill>
              </a:rPr>
              <a:t>（</a:t>
            </a:r>
            <a:r>
              <a:rPr lang="en-US" altLang="zh-CN" sz="1100" b="1" dirty="0">
                <a:solidFill>
                  <a:srgbClr val="00B050"/>
                </a:solidFill>
              </a:rPr>
              <a:t>RMB</a:t>
            </a:r>
            <a:r>
              <a:rPr lang="zh-CN" altLang="en-US" sz="1100" b="1" dirty="0">
                <a:solidFill>
                  <a:srgbClr val="00B050"/>
                </a:solidFill>
              </a:rPr>
              <a:t> </a:t>
            </a:r>
            <a:r>
              <a:rPr lang="en-US" altLang="zh-CN" sz="1100" b="1" dirty="0">
                <a:solidFill>
                  <a:srgbClr val="00B050"/>
                </a:solidFill>
              </a:rPr>
              <a:t>50,000</a:t>
            </a:r>
            <a:r>
              <a:rPr lang="zh-CN" altLang="en-US" sz="1100" b="1" dirty="0">
                <a:solidFill>
                  <a:srgbClr val="00B050"/>
                </a:solidFill>
              </a:rPr>
              <a:t>）</a:t>
            </a:r>
            <a:endParaRPr lang="en-US" sz="1100" b="1" dirty="0">
              <a:solidFill>
                <a:srgbClr val="00B050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100" b="1" dirty="0" err="1">
                <a:solidFill>
                  <a:srgbClr val="1E293B"/>
                </a:solidFill>
              </a:rPr>
              <a:t>对照组</a:t>
            </a:r>
            <a:r>
              <a:rPr lang="zh-CN" altLang="en-US" sz="1100" b="1" dirty="0">
                <a:solidFill>
                  <a:srgbClr val="1E293B"/>
                </a:solidFill>
              </a:rPr>
              <a:t>（原始实现，不参与实验）</a:t>
            </a:r>
            <a:r>
              <a:rPr lang="en-US" sz="1100" b="1" dirty="0">
                <a:solidFill>
                  <a:srgbClr val="1E293B"/>
                </a:solidFill>
              </a:rPr>
              <a:t>：</a:t>
            </a:r>
            <a:r>
              <a:rPr lang="en-US" altLang="zh-CN" sz="1100" dirty="0"/>
              <a:t>Intel(R) Xeon(R) Platinum 8352V</a:t>
            </a:r>
            <a:r>
              <a:rPr lang="zh-CN" altLang="zh-CN" sz="1100" dirty="0"/>
              <a:t>（</a:t>
            </a:r>
            <a:r>
              <a:rPr lang="en-US" altLang="zh-CN" sz="1100" dirty="0"/>
              <a:t>144 cores</a:t>
            </a:r>
            <a:r>
              <a:rPr lang="zh-CN" altLang="zh-CN" sz="1100" dirty="0"/>
              <a:t>）</a:t>
            </a:r>
            <a:r>
              <a:rPr lang="en-US" altLang="zh-CN" sz="1100" dirty="0"/>
              <a:t>, 256GB RAM, 4 * NVIDIA A100 PCIe 80GB GPU, Ubuntu 24.04.1 LTS</a:t>
            </a:r>
            <a:r>
              <a:rPr lang="zh-CN" altLang="en-US" sz="1100" b="1" dirty="0">
                <a:solidFill>
                  <a:srgbClr val="FF0000"/>
                </a:solidFill>
              </a:rPr>
              <a:t>（</a:t>
            </a:r>
            <a:r>
              <a:rPr lang="en-US" altLang="zh-CN" sz="1100" b="1" dirty="0">
                <a:solidFill>
                  <a:srgbClr val="FF0000"/>
                </a:solidFill>
              </a:rPr>
              <a:t>RMB</a:t>
            </a:r>
            <a:r>
              <a:rPr lang="zh-CN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</a:rPr>
              <a:t>750,000+</a:t>
            </a:r>
            <a:r>
              <a:rPr lang="zh-CN" altLang="en-US" sz="1100" b="1" dirty="0">
                <a:solidFill>
                  <a:srgbClr val="FF0000"/>
                </a:solidFill>
              </a:rPr>
              <a:t>）</a:t>
            </a:r>
            <a:endParaRPr lang="en-US" altLang="zh-CN" sz="1100" b="1" dirty="0">
              <a:solidFill>
                <a:srgbClr val="FF0000"/>
              </a:solidFill>
            </a:endParaRPr>
          </a:p>
          <a:p>
            <a:pPr algn="ctr">
              <a:spcAft>
                <a:spcPts val="400"/>
              </a:spcAft>
            </a:pPr>
            <a:r>
              <a:rPr lang="zh-CN" altLang="en-US" sz="1050" b="1" dirty="0">
                <a:solidFill>
                  <a:srgbClr val="FF0000"/>
                </a:solidFill>
              </a:rPr>
              <a:t>和对照组相比，测试用</a:t>
            </a:r>
            <a:r>
              <a:rPr lang="en-US" altLang="zh-CN" sz="1050" b="1" dirty="0">
                <a:solidFill>
                  <a:srgbClr val="FF0000"/>
                </a:solidFill>
              </a:rPr>
              <a:t>LLM</a:t>
            </a:r>
            <a:r>
              <a:rPr lang="zh-CN" altLang="en-US" sz="1050" b="1" dirty="0">
                <a:solidFill>
                  <a:srgbClr val="FF0000"/>
                </a:solidFill>
              </a:rPr>
              <a:t>服务主机的价格仅为对照组的不到</a:t>
            </a:r>
            <a:r>
              <a:rPr lang="en-US" altLang="zh-CN" sz="1050" b="1" dirty="0">
                <a:solidFill>
                  <a:srgbClr val="FF0000"/>
                </a:solidFill>
              </a:rPr>
              <a:t>10%</a:t>
            </a:r>
            <a:r>
              <a:rPr lang="zh-CN" altLang="en-US" sz="1050" b="1" dirty="0">
                <a:solidFill>
                  <a:srgbClr val="FF0000"/>
                </a:solidFill>
              </a:rPr>
              <a:t>！</a:t>
            </a:r>
            <a:endParaRPr lang="zh-CN" altLang="zh-CN" sz="10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实验结果：各模型修复后剩余缺陷数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551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 = 模型无法完成有效修复（死循环/无效输出/</a:t>
            </a:r>
            <a:r>
              <a:rPr lang="en-US" sz="10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超出上下文窗口等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579305"/>
              </p:ext>
            </p:extLst>
          </p:nvPr>
        </p:nvGraphicFramePr>
        <p:xfrm>
          <a:off x="548640" y="1452359"/>
          <a:ext cx="7955280" cy="2251273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5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项目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GPT-OSS-20B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GPT-OSS-20B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Qwen3-Coder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Qwen3-Coder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Deepseek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Deepseek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Gemma 4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Gemma 4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k=5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原始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缺陷数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1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amqplib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Arkts_tutorial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33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7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Gallery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node-pop3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34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wifi_testapp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Err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109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62837"/>
            <a:ext cx="8229600" cy="5486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" name="Text 5"/>
          <p:cNvSpPr/>
          <p:nvPr/>
        </p:nvSpPr>
        <p:spPr>
          <a:xfrm>
            <a:off x="603504" y="3962837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Qwen3-Coder-30B在top_k=1设置下表现最优：wifi_testapp(109→3), node-pop3(73→8)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结果分析：核心发现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33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MoE架构优势明显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3075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GPT-OSS-20B和Qwen3-Coder-30B采用MoE架构，运行开销小，RTX 4090 Laptop上可达到140 token/s输出速度。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Qwen3-Coder-30B最优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2677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在top_k=1设置下，凭借MoE架构高效计算和代码场景微调的强大理解能力，总体表现领先。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部分模型推理不稳定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2278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Deepseek-R1-8B和Gemma 4 26B在多个项目中出现死循环、无效输出或超出上下文窗口等错误。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top_k值的影响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1879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小模型(GPT-OSS-20B)需更大top_k(=5)提供更多参考；微调模型(Qwen3-Coder)top_k=1反而更优，过多噪声会干扰判断。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9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原始HapRepair在</a:t>
            </a:r>
            <a:r>
              <a:rPr lang="en-US" altLang="zh-CN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zh-CN" alt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A100上实现接近</a:t>
            </a:r>
            <a:r>
              <a:rPr lang="en-US" altLang="zh-CN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r>
              <a:rPr lang="zh-CN" alt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的修复率</a:t>
            </a: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轻量化方案在可接受性能折损下实现本地化部署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研究贡献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验证小参数模型可行性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在16GB显存GPU上验证了轻量化LLM进行软件缺陷修复的可行性，为本地化部署提供实证依据。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188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扩展高质量RAG数据集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600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将原始271对修复样本扩展至636对，丰富了小模型的检索知识库。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改进代码完整性检查机制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完善功能一致性验证步骤，自动回滚引入编译错误或逻辑变更的修复，避免引入新缺陷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73152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3108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揭示小模型部署关键因素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通过对比实验揭示了模型架构、领域相关性及RAG检索深度对小模型性能的决定性影响。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局限性与未来展望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当前局限性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数据集依赖性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成功高度依赖手动扩展的636对修复数据集，新项目/语言仍需人工构建RAG知识库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模型选择敏感性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模型选择对效果有决定性影响，部署前需在目标项目上进行基准测试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220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评估指标局限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27832"/>
            <a:ext cx="3566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仅统计剩余缺陷数，未衡量代码风格一致性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未来可能的改进方向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更极致的轻量化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测试8B以下模型(如Qwen2.5-Coder-7B)的可行性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自动化数据增强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37294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利用LLM自身生成合成修复样本，减少人工标注成本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15843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集成持续学习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94444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使模型能从每次成功修复中学习，逐步提升自身能力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87343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优化上下文管理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31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开发更高效的上下文压缩算法，处理长文件的多缺陷修复</a:t>
            </a:r>
            <a:endParaRPr lang="en-US" sz="11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83FB60AE-1364-4564-9AED-0D9F1B05E089}"/>
              </a:ext>
            </a:extLst>
          </p:cNvPr>
          <p:cNvSpPr/>
          <p:nvPr/>
        </p:nvSpPr>
        <p:spPr>
          <a:xfrm>
            <a:off x="640080" y="357822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Top_k策略</a:t>
            </a:r>
            <a:endParaRPr lang="en-US" sz="12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2A13ABD-6AA7-C8B9-0A58-2C39E5F4B4BC}"/>
              </a:ext>
            </a:extLst>
          </p:cNvPr>
          <p:cNvSpPr/>
          <p:nvPr/>
        </p:nvSpPr>
        <p:spPr>
          <a:xfrm>
            <a:off x="640080" y="3761107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理想</a:t>
            </a:r>
            <a:r>
              <a:rPr lang="en-US" altLang="zh-CN" sz="11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top_k</a:t>
            </a:r>
            <a:r>
              <a:rPr lang="zh-CN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值与模型容量和任务复杂度相关，应该根据实际情况动态调整</a:t>
            </a: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E1C6075-F9AD-7F9A-BD71-CCC7E3FC5855}"/>
              </a:ext>
            </a:extLst>
          </p:cNvPr>
          <p:cNvSpPr/>
          <p:nvPr/>
        </p:nvSpPr>
        <p:spPr>
          <a:xfrm>
            <a:off x="4937760" y="376837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动态Top_k策略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2BFC280-6C80-F900-6F5C-BD3D4A608A38}"/>
              </a:ext>
            </a:extLst>
          </p:cNvPr>
          <p:cNvSpPr/>
          <p:nvPr/>
        </p:nvSpPr>
        <p:spPr>
          <a:xfrm>
            <a:off x="4937760" y="3986409"/>
            <a:ext cx="3566160" cy="44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实现自适应机制，根据模型置信度或检索结果的相似度分数动态调整</a:t>
            </a:r>
            <a:r>
              <a:rPr lang="en-US" altLang="zh-CN" sz="11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top_k</a:t>
            </a:r>
            <a:r>
              <a:rPr lang="zh-CN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Qwen3-Coder-30B凭借MoE架构和代码微调，成为最佳实践模型，能以较低资源消耗实现较高修复成功率。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小模型需要更丰富的RAG知识库，适当增大top_k值可有效提升非微调模型的性能。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并非所有小模型都适用，推理稳定性是当前主要障碍，模型架构和领域相关性至关重要。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通过合理模型选择和参数调优，可在个人电脑上实现接近高端服务器的缺陷修复能力。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6400800" cy="36576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r>
              <a:rPr lang="zh-CN" alt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！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763</Words>
  <Application>Microsoft Macintosh PowerPoint</Application>
  <PresentationFormat>全屏显示(16:9)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面向个人电脑环境的轻量化LLM软件缺陷修复方法研究</dc:title>
  <dc:subject>PptxGenJS Presentation</dc:subject>
  <dc:creator>Research Defense</dc:creator>
  <cp:lastModifiedBy>敏耀 高</cp:lastModifiedBy>
  <cp:revision>6</cp:revision>
  <dcterms:created xsi:type="dcterms:W3CDTF">2026-06-28T10:11:58Z</dcterms:created>
  <dcterms:modified xsi:type="dcterms:W3CDTF">2026-06-28T11:29:24Z</dcterms:modified>
</cp:coreProperties>
</file>