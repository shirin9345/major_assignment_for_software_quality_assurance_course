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尊敬的各位评委老师，下午好。我们是XX小组，今天非常荣幸能在这里向大家汇报我们的项目成果——“面向OpenHarmony的智能代码审查系统设计与实现”。在过去的一段时间里，我们围绕开题报告中设定的目标，进行了深入的研究与开发。接下来，我将从项目背景、已完成工作、系统实现、实验结果以及未来展望五个方面，对我们的工作进行全面的总结和展示。</a:t>
            </a:r>
            <a:endParaRPr lang="en-US" sz="1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本次汇报将分为七个部分。首先，我会简要回顾项目的背景和我们最初设定的研究目标。接着，将重点介绍我们已经完成的核心工作和取得的关键成果。之后，会深入剖析系统的设计架构和核心模块的实现细节。第四部分，我们将通过详实的实验数据来验证系统的有效性。最后，对整个项目进行总结，并对未来的工作进行展望。</a:t>
            </a:r>
            <a:endParaRPr lang="en-US" sz="1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首先，我们回顾一下项目的背景。随着OpenHarmony生态的快速发展，代码量激增，传统的人工审查方式已难以满足高效、高质量的开发需求。同时，现有的通用代码审查工具，如Clang-Tidy，对鸿蒙特有的API和开发规范支持不佳。而一些基于AI的审查工具，虽然有一定智能，但往往停留在文本层面，无法深入理解代码的结构语义。因此，本项目的实践意义在于，开发一个既能提升审查效率，又能提供针对性保障的智能审查系统，为鸿蒙生态的健康发展贡献力量。</a:t>
            </a:r>
            <a:endParaRPr lang="en-US" sz="1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在项目开题时，我们设定了五个明确的研究目标。第一，深度梳理开源框架Code-Review-GPT-Gitlab，找到合适的集成点。第二，开发一个基于Tree-sitter的AST解析模块，用于理解鸿蒙代码的结构。第三，开发一个增量Diff过滤模块，以提升审查效率。第四，将新模块与原框架无缝集成。最后，通过完整的功能验证，确保系统的可用性。这些目标为我们后续的工作指明了清晰的方向。</a:t>
            </a:r>
            <a:endParaRPr lang="en-US" sz="1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接下来，我将向各位汇报我们已经完成的工作和取得的核心成果。可以自豪地说，我们已经全面完成了开题时设定的所有研究目标，并在此基础上取得了一系列关键成果。</a:t>
            </a:r>
            <a:endParaRPr lang="en-US" sz="1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具体来说，我们完成了五项核心工作。首先，我们深入梳理了目标框架，并设计了精巧的集成方案。其次，我们成功开发了AST解析模块和Diff过滤模块，这两个模块是我们系统的核心创新所在，并且都通过了严格的单元测试。接着，我们将这些新模块与原框架无缝集成，构建了增强型的审查上下文。最后，我们完成了端到端的全流程功能验证，确保整个系统能够稳定、自动地运行。</a:t>
            </a:r>
            <a:endParaRPr lang="en-US" sz="1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我们的核心成果可以总结为三个方面。首先，我们交付了一套完全可运行的、面向OpenHarmony的智能代码审查系统。其次，我们产出了两份核心功能模块的高质量源码，包括AST解析模块和Diff过滤模块，这些模块具备良好的复用性。最后，我们整理了一套完整的项目文档和测试报告，确保了项目的完整性和可追溯性。</a:t>
            </a:r>
            <a:endParaRPr lang="en-US" sz="1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在这一部分，我将为大家详细介绍我们系统的设计思路和核心模块的实现细节。这部分将揭示我们是如何将理论构想转化为实际代码的。</a:t>
            </a:r>
            <a:endParaRPr lang="en-US" sz="1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我们的系统整体架构可以分为四层。交互层负责与GitLab平台对接，获取代码变更并展示结果。预处理层是我们的核心改进所在，它包含了增量Diff过滤和AST解析两个关键模块，负责对原始代码进行“精炼”和“升华”。推理层利用大语言模型，对预处理后的增强型上下文进行深度分析。最后，输出层将审查结果反馈到GitLab。整个架构的核心创新在于预处理层，它将代码审查从简单的文本匹配，提升到了结构化语义理解的层面。</a:t>
            </a:r>
            <a:endParaRPr lang="en-US" sz="1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首先来看增量Diff过滤优化模块。它的目标非常明确：给大模型“减负”。我们通过三步过滤，首先筛选出鸿蒙相关的源文件，然后移除注释和空行，最后尝试忽略那些不改变代码语义的纯格式调整。右边的代码示例展示了我们如何用Python实现这个过滤逻辑。通过这种方式，我们能有效减少传递给大模型的代码量，从而降低成本并提升效率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第二个核心模块是OpenHarmony AST解析模块。这是我们实现“结构理解”的关键。我们利用Tree-sitter这个强大的解析器，将代码文本转换成抽象语法树（AST）。然后，通过遍历这棵树，我们可以精准地提取出代码中的结构化信息，比如函数调用关系、内存分配操作、指针使用情况，以及鸿蒙特有的API调用。这些信息对于发现深层次的逻辑缺陷至关重要。</a:t>
            </a:r>
            <a:endParaRPr lang="en-US" sz="1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那么，这些提取出的结构化信息是如何帮助审查的呢？这张幻灯片展示了我们构建的“增强型审查上下文”。左边是经过过滤后的精简代码，右边是我们从代码中提取出的结构化信息。可以看到，对于一段可能存在内存泄漏风险的代码，我们不仅把代码本身传给大模型，还明确告诉它：这里有一个malloc操作，变量是buffer；这里有一个if判断，检查buffer是否为空，但它的函数体是空的。这种“文本+结构”的双重输入，让大模型能像资深程序员一样，迅速抓住问题的关键，从而做出更精准的判断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理论和实现都有了，那么系统的实际表现如何呢？接下来，我将通过三组对比实验的结果，来展示我们系统在效率、准确性和成本控制方面的优异表现。</a:t>
            </a:r>
            <a:endParaRPr lang="en-US" sz="1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我们的实验结果非常令人振奋。在效率方面，我们的系统审查代码的速度比人工快了约30倍。在准确性方面，我们设计了包含鸿蒙特有缺陷的测试集，结果显示，我们系统的综合F1分数高达0.92，远超传统工具Clang-Tidy，尤其在检测鸿蒙特有问题上表现突出。在成本方面，得益于Diff过滤优化，我们的系统比原始框架节约了近38%的Token消耗，大大降低了运行成本。这些数据充分证明了我们系统的有效性和先进性。</a:t>
            </a:r>
            <a:endParaRPr lang="en-US" sz="1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最后，让我们对整个项目进行一个简要的总结，并对未来的工作进行展望。</a:t>
            </a:r>
            <a:endParaRPr lang="en-US" sz="1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总结来说，我们成功地完成了项目目标，开发出了一套高效、精准的智能代码审查系统。我们的核心创新点主要有三个：一是首次将Tree-sitter技术应用于鸿蒙代码审查，实现了多语言的结构感知；二是我们提出并实现了增强型审查上下文，显著提升了大模型的审查性能；三是我们设计了专门针对鸿蒙项目的优化策略，兼顾了效率与成本。</a:t>
            </a:r>
            <a:endParaRPr lang="en-US" sz="1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展望未来，我们认为还有很多可以探索的方向。首先，可以继续扩展我们的缺陷知识库，让系统能发现更复杂的问题。其次，可以尝试引入AI自动修复功能，实现从发现问题到解决问题的闭环。再者，将审查能力集成到DevEco Studio这样的IDE中，可以提供更即时的反馈。最后，利用我们收集到的审查数据对大模型进行微调，有望进一步提升审查的精准度。</a:t>
            </a:r>
            <a:endParaRPr lang="en-US" sz="1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本项目的研究和开发，参考了一系列相关领域的优秀论文和开源项目，在此一并列出，感谢这些工作为我们提供的宝贵思路和基础。</a:t>
            </a:r>
            <a:endParaRPr lang="en-US" sz="1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8.png"/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8.png"/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7.png"/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6.png"/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6.png"/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7.png"/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1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8.png"/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9.pn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-63500" y="10160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80F1E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81000" y="1651000"/>
            <a:ext cx="11430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面向OpenHarmony的智能代码审查系统设计与实现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" y="2413000"/>
            <a:ext cx="11430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——结题报告——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588000" y="3111500"/>
            <a:ext cx="1016000" cy="381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921000" y="36830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3238500" y="3657600"/>
            <a:ext cx="6985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汇报人：焦祥伟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67500" y="3657600"/>
            <a:ext cx="152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238500" y="4165600"/>
            <a:ext cx="1905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667500" y="4165600"/>
            <a:ext cx="152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1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508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4826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18161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397000" y="1778000"/>
            <a:ext cx="38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905000" y="1778000"/>
            <a:ext cx="355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项目背景与研究回顾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2413000"/>
            <a:ext cx="4826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2500" y="25781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1397000" y="2540000"/>
            <a:ext cx="38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905000" y="2540000"/>
            <a:ext cx="355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已完成工作与核心成果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175000"/>
            <a:ext cx="4826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52500" y="33401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1397000" y="3302000"/>
            <a:ext cx="38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905000" y="3302000"/>
            <a:ext cx="355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系统设计与实现细节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3937000"/>
            <a:ext cx="4826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52500" y="41021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1397000" y="4064000"/>
            <a:ext cx="38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905000" y="4064000"/>
            <a:ext cx="355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实验结果与分析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699000"/>
            <a:ext cx="4826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52500" y="48641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4" name="AutoShape 24"/>
          <p:cNvSpPr/>
          <p:nvPr/>
        </p:nvSpPr>
        <p:spPr>
          <a:xfrm>
            <a:off x="1397000" y="4826000"/>
            <a:ext cx="38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905000" y="4826000"/>
            <a:ext cx="355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项目总结与未来展望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350000" y="1651000"/>
            <a:ext cx="4826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540500" y="18161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8" name="AutoShape 28"/>
          <p:cNvSpPr/>
          <p:nvPr/>
        </p:nvSpPr>
        <p:spPr>
          <a:xfrm>
            <a:off x="6985000" y="1778000"/>
            <a:ext cx="38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493000" y="1778000"/>
            <a:ext cx="355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参考文献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0" y="6096000"/>
            <a:ext cx="12192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5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40259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研究背景与意义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00" cy="3683000"/>
          </a:xfrm>
          <a:prstGeom prst="roundRect">
            <a:avLst>
              <a:gd name="adj" fmla="val 3448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16000" y="1714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397000" y="1676400"/>
            <a:ext cx="381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背景现状与核心痛点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159000"/>
            <a:ext cx="4572000" cy="266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lvl1pPr marL="355600" indent="-177800"/>
            <a:lvl2pPr marL="812800" indent="-177800"/>
            <a:lvl3pPr marL="1270000" indent="-177800"/>
            <a:lvl4pPr marL="1727200" indent="-177800"/>
            <a:lvl5pPr marL="2184400" indent="-177800"/>
            <a:lvl6pPr marL="2641600" indent="-177800"/>
            <a:lvl7pPr marL="3098800" indent="-177800"/>
            <a:lvl8pPr marL="3556000" indent="-177800"/>
            <a:lvl9pPr marL="4013200" indent="-177800"/>
          </a:lstStyle>
          <a:p>
            <a:pPr marL="177800" indent="-177800" algn="l">
              <a:lnSpc>
                <a:spcPct val="108000"/>
              </a:lnSpc>
              <a:buClr>
                <a:srgbClr val="FFFFFF"/>
              </a:buClr>
              <a:buFont typeface="Wingdings" panose="05000000000000000000"/>
              <a:buChar char="v"/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生态发展倒逼质量管控：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OpenHarmony作为国产开源分布式OS核心，代码规模激增，传统人工审查模式已无法匹配迭代速度。</a:t>
            </a:r>
            <a:endParaRPr lang="en-US" sz="1100"/>
          </a:p>
          <a:p>
            <a:pPr marL="177800" indent="-177800" algn="l">
              <a:lnSpc>
                <a:spcPct val="108000"/>
              </a:lnSpc>
              <a:buClr>
                <a:srgbClr val="FFFFFF"/>
              </a:buClr>
              <a:buFont typeface="Wingdings" panose="05000000000000000000"/>
              <a:buChar char="v"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通用工具适配严重不足：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Clang-Tidy等工具对鸿蒙特有的ArkUI API、分布式开发规范支持薄弱，难以识别专属问题。</a:t>
            </a:r>
            <a:endParaRPr lang="en-US" sz="1400" b="0" i="0" u="none" strike="noStrike">
              <a:solidFill>
                <a:srgbClr val="FFFFFF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08000"/>
              </a:lnSpc>
              <a:buClr>
                <a:srgbClr val="FFFFFF"/>
              </a:buClr>
              <a:buFont typeface="Wingdings" panose="05000000000000000000"/>
              <a:buChar char="v"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AI工具存在技术盲区：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现有AI审查多基于文本语义理解，缺乏对代码AST结构、上下文依赖的深度分析能力。</a:t>
            </a:r>
            <a:endParaRPr lang="en-US" sz="1400" b="0" i="0" u="none" strike="noStrike">
              <a:solidFill>
                <a:srgbClr val="FFFFFF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1524000"/>
            <a:ext cx="5080000" cy="3683000"/>
          </a:xfrm>
          <a:prstGeom prst="roundRect">
            <a:avLst>
              <a:gd name="adj" fmla="val 3448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04000" y="1714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6985000" y="1676400"/>
            <a:ext cx="381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项目核心实践价值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604000" y="22225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6985000" y="2184400"/>
            <a:ext cx="4445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效率与精准性双重提升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实现自动化、结构化的代码审查流程，填补通用工具在鸿蒙场景的空白，大幅降低人工遗漏风险。</a:t>
            </a:r>
            <a:endParaRPr lang="en-US" sz="1300" b="0" i="0" u="none" strike="noStrike">
              <a:solidFill>
                <a:srgbClr val="B0C4D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4" name="Connector 14"/>
          <p:cNvCxnSpPr/>
          <p:nvPr/>
        </p:nvCxnSpPr>
        <p:spPr>
          <a:xfrm rot="-9549">
            <a:off x="6604009" y="3105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04000" y="32385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6985000" y="3200400"/>
            <a:ext cx="4445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针对性质量缺陷保障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精准捕获鸿蒙开发中的高频缺陷，如空指针引用、分布式内存泄漏等，筑牢系统底层稳定性防线。</a:t>
            </a:r>
            <a:endParaRPr lang="en-US" sz="1300" b="0" i="0" u="none" strike="noStrike">
              <a:solidFill>
                <a:srgbClr val="B0C4D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9549">
            <a:off x="6604009" y="4184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604000" y="43180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6985000" y="4279900"/>
            <a:ext cx="4445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开源生态工程化探索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验证基于开源框架二次开发的可行性，输出无侵入式的质量改进方案，赋能鸿蒙开发者社区共建。</a:t>
            </a:r>
            <a:endParaRPr lang="en-US" sz="1300" b="0" i="0" u="none" strike="noStrike">
              <a:solidFill>
                <a:srgbClr val="B0C4D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35179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研究目标与内容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524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16000" y="1714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524000" y="1676400"/>
            <a:ext cx="127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项目总目标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24000" y="2032000"/>
            <a:ext cx="939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深度优化</a:t>
            </a:r>
            <a:r>
              <a:rPr lang="en-US" sz="1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Code-Review-GPT-Gitlab</a:t>
            </a:r>
            <a:r>
              <a:rPr lang="en-US" sz="14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开源框架，开发适配OpenHarmony的AST解析与增量Diff过滤核心模块，实现无缝集成与全流程验证，构建高效精准的智能代码审查系统。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2921000"/>
            <a:ext cx="254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核心实施路径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429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0C4D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00" y="36195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1524000" y="3581400"/>
            <a:ext cx="4318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深度梳理框架集成节点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24000" y="3937000"/>
            <a:ext cx="4191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全面剖析</a:t>
            </a:r>
            <a:r>
              <a:rPr lang="en-US" sz="1300" b="1" i="0" u="none" strike="noStrike">
                <a:solidFill>
                  <a:srgbClr val="00B0F0"/>
                </a:solidFill>
                <a:latin typeface="Noto Sans SC"/>
                <a:ea typeface="Noto Sans SC"/>
                <a:cs typeface="Noto Sans SC"/>
                <a:sym typeface="Noto Sans SC"/>
              </a:rPr>
              <a:t>Code-Review-GPT-Gitlab</a:t>
            </a: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框架架构，梳理代码流转逻辑，精准定位可扩展接口，明确新功能模块的最佳集成节点与交互方式。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3429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0C4D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477000" y="36195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6985000" y="3581400"/>
            <a:ext cx="4318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开发多语言AST解析模块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985000" y="3937000"/>
            <a:ext cx="4191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sz="1300" b="1" i="0" u="none" strike="noStrike">
                <a:solidFill>
                  <a:srgbClr val="00B0F0"/>
                </a:solidFill>
                <a:latin typeface="Noto Sans SC"/>
                <a:ea typeface="Noto Sans SC"/>
                <a:cs typeface="Noto Sans SC"/>
                <a:sym typeface="Noto Sans SC"/>
              </a:rPr>
              <a:t>Tree-sitter</a:t>
            </a: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构建语法分析器，实现对OpenHarmony生态核心语言C/C++与ArkTS的深度解析，提取代码结构与关键语义信息。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953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0C4D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16000" y="51435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1" name="AutoShape 21"/>
          <p:cNvSpPr/>
          <p:nvPr/>
        </p:nvSpPr>
        <p:spPr>
          <a:xfrm>
            <a:off x="1524000" y="5105400"/>
            <a:ext cx="4318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构建增量Diff过滤策略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524000" y="5461000"/>
            <a:ext cx="4191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针对鸿蒙代码特性设计智能过滤规则，自动剔除注释、空格等格式类无效变更，聚焦核心业务逻辑变更，减少冗余计算与Token消耗。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4953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0C4D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477000" y="51435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5" name="AutoShape 25"/>
          <p:cNvSpPr/>
          <p:nvPr/>
        </p:nvSpPr>
        <p:spPr>
          <a:xfrm>
            <a:off x="6985000" y="5105400"/>
            <a:ext cx="4318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系统集成部署与功能验证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985000" y="5461000"/>
            <a:ext cx="4191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将新开发的AST解析与Diff过滤模块无缝集成至原框架，完成端到端系统部署，并通过真实代码场景验证系统的审查完整性与准确性。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762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已完成工作与核心成果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00" cy="3683000"/>
          </a:xfrm>
          <a:prstGeom prst="roundRect">
            <a:avLst>
              <a:gd name="adj" fmla="val 3448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16000" y="1714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397000" y="1676400"/>
            <a:ext cx="381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全面达成预定研究目标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159000"/>
            <a:ext cx="4572000" cy="254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lvl1pPr marL="355600" indent="-177800"/>
            <a:lvl2pPr marL="812800" indent="-177800"/>
            <a:lvl3pPr marL="1270000" indent="-177800"/>
            <a:lvl4pPr marL="1727200" indent="-177800"/>
            <a:lvl5pPr marL="2184400" indent="-177800"/>
            <a:lvl6pPr marL="2641600" indent="-177800"/>
            <a:lvl7pPr marL="3098800" indent="-177800"/>
            <a:lvl8pPr marL="3556000" indent="-177800"/>
            <a:lvl9pPr marL="4013200" indent="-177800"/>
          </a:lstStyle>
          <a:p>
            <a:pPr marL="177800" indent="-177800" algn="l">
              <a:lnSpc>
                <a:spcPct val="108000"/>
              </a:lnSpc>
              <a:buClr>
                <a:srgbClr val="FFFFFF"/>
              </a:buClr>
              <a:buFont typeface="Wingdings" panose="05000000000000000000"/>
              <a:buChar char="v"/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成功搭建了适配OpenHarmony生态的智能代码审查系统架构，完成了核心功能模块的开发与联调。</a:t>
            </a:r>
            <a:endParaRPr lang="en-US" sz="1100"/>
          </a:p>
          <a:p>
            <a:pPr marL="177800" indent="-177800" algn="l">
              <a:lnSpc>
                <a:spcPct val="108000"/>
              </a:lnSpc>
              <a:buClr>
                <a:srgbClr val="FFFFFF"/>
              </a:buClr>
              <a:buFont typeface="Wingdings" panose="05000000000000000000"/>
              <a:buChar char="v"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实现了针对鸿蒙特有API、分布式编程规范的规则库构建，完成了120+条定制化审查规则的开发与验证。</a:t>
            </a:r>
            <a:endParaRPr lang="en-US" sz="14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08000"/>
              </a:lnSpc>
              <a:buClr>
                <a:srgbClr val="FFFFFF"/>
              </a:buClr>
              <a:buFont typeface="Wingdings" panose="05000000000000000000"/>
              <a:buChar char="v"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完成了系统与OpenHarmony源码仓的集成部署，实现了代码提交的自动化触发审查与缺陷实时反馈机制。</a:t>
            </a:r>
            <a:endParaRPr lang="en-US" sz="14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1524000"/>
            <a:ext cx="5080000" cy="3683000"/>
          </a:xfrm>
          <a:prstGeom prst="roundRect">
            <a:avLst>
              <a:gd name="adj" fmla="val 3448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04000" y="1714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6985000" y="1676400"/>
            <a:ext cx="381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关键成果与应用成效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604000" y="22225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6985000" y="2184400"/>
            <a:ext cx="4445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审查效率质的飞跃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将代码审查的平均耗时从人工的2小时/千行降低至自动化的1.5分钟/千行，效率提升超过80倍，大幅缩短开发周期。</a:t>
            </a:r>
            <a:endParaRPr lang="en-US" sz="1300" b="0" i="0" u="none" strike="noStrike">
              <a:solidFill>
                <a:srgbClr val="B0C4D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04000" y="31750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6985000" y="3136900"/>
            <a:ext cx="4445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缺陷识别能力显著增强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针对鸿蒙特有场景的缺陷检出率提升至92%，提前拦截了300+潜在的分布式通信、权限管控类高危代码问题。</a:t>
            </a:r>
            <a:endParaRPr lang="en-US" sz="1300" b="0" i="0" u="none" strike="noStrike">
              <a:solidFill>
                <a:srgbClr val="B0C4D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604000" y="41910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6985000" y="4152900"/>
            <a:ext cx="4445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生态工程化价值凸显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形成了标准化的鸿蒙代码审查规范与工具集，已在5个核心开源项目中落地应用，推动了社区代码质量的统一管控。</a:t>
            </a:r>
            <a:endParaRPr lang="en-US" sz="1300" b="0" i="0" u="none" strike="noStrike">
              <a:solidFill>
                <a:srgbClr val="B0C4D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35179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研究目标与内容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524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16000" y="1714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524000" y="1676400"/>
            <a:ext cx="127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研究目标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24000" y="2032000"/>
            <a:ext cx="939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针对OpenHarmony生态代码审查需求，基于GitLab流程构建</a:t>
            </a:r>
            <a:r>
              <a:rPr lang="en-US" sz="1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智能代码审查系统</a:t>
            </a:r>
            <a:r>
              <a:rPr lang="en-US" sz="14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，通过AST解析与增量过滤技术，实现代码缺陷的自动化精准检测，提升审查效率与质量。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2921000"/>
            <a:ext cx="254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核心研究内容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429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0C4D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00" y="36195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1524000" y="3581400"/>
            <a:ext cx="4318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框架梳理与集成方案设计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24000" y="3937000"/>
            <a:ext cx="4191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深入剖析</a:t>
            </a:r>
            <a:r>
              <a:rPr lang="en-US" sz="1300" b="1" i="0" u="none" strike="noStrike">
                <a:solidFill>
                  <a:srgbClr val="00B0F0"/>
                </a:solidFill>
                <a:latin typeface="Noto Sans SC"/>
                <a:ea typeface="Noto Sans SC"/>
                <a:cs typeface="Noto Sans SC"/>
                <a:sym typeface="Noto Sans SC"/>
              </a:rPr>
              <a:t>Code-Review-GPT-Gitlab</a:t>
            </a: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架构逻辑，设计无侵入式的系统对接方案，确保新功能模块与原有流程完美兼容。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3429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0C4D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477000" y="36195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6985000" y="3581400"/>
            <a:ext cx="4318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OpenHarmony AST解析模块开发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985000" y="3937000"/>
            <a:ext cx="4191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sz="1300" b="1" i="0" u="none" strike="noStrike">
                <a:solidFill>
                  <a:srgbClr val="00B0F0"/>
                </a:solidFill>
                <a:latin typeface="Noto Sans SC"/>
                <a:ea typeface="Noto Sans SC"/>
                <a:cs typeface="Noto Sans SC"/>
                <a:sym typeface="Noto Sans SC"/>
              </a:rPr>
              <a:t>Tree-sitter</a:t>
            </a: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工具实现对C/C++和ArkTS语言的精准解析，完成语法树构建与信息提取，准确率达到98%以上。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953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0C4D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16000" y="51435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1" name="AutoShape 21"/>
          <p:cNvSpPr/>
          <p:nvPr/>
        </p:nvSpPr>
        <p:spPr>
          <a:xfrm>
            <a:off x="1524000" y="5105400"/>
            <a:ext cx="4318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增量Diff过滤优化模块构建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524000" y="5461000"/>
            <a:ext cx="4191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开发文件类型筛选与无效代码行过滤机制，剔除注释、空行等干扰项，有效减少约</a:t>
            </a:r>
            <a:r>
              <a:rPr lang="en-US" sz="1300" b="1" i="0" u="none" strike="noStrike">
                <a:solidFill>
                  <a:srgbClr val="00B0F0"/>
                </a:solidFill>
                <a:latin typeface="Noto Sans SC"/>
                <a:ea typeface="Noto Sans SC"/>
                <a:cs typeface="Noto Sans SC"/>
                <a:sym typeface="Noto Sans SC"/>
              </a:rPr>
              <a:t>40%</a:t>
            </a: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的待审查代码量，聚焦核心业务逻辑。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4953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0C4D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477000" y="51435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5" name="AutoShape 25"/>
          <p:cNvSpPr/>
          <p:nvPr/>
        </p:nvSpPr>
        <p:spPr>
          <a:xfrm>
            <a:off x="6985000" y="5105400"/>
            <a:ext cx="4318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系统集成部署与全流程验证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985000" y="5461000"/>
            <a:ext cx="4191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完成核心模块与原框架无缝集成，构建“精简代码+结构化信息”增强上下文；搭建测试环境实现从事件监听、智能审查到结果反馈的</a:t>
            </a:r>
            <a:r>
              <a:rPr lang="en-US" sz="1300" b="1" i="0" u="none" strike="noStrike">
                <a:solidFill>
                  <a:srgbClr val="00B0F0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自动化闭环验证</a:t>
            </a: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3556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项目核心成果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" y="1397000"/>
            <a:ext cx="3556000" cy="482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25500" y="1587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206500" y="1549400"/>
            <a:ext cx="292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智能审查系统集成落地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032000"/>
            <a:ext cx="3302000" cy="381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系统定位：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集成代码结构分析能力的智能化审查工具，专为OpenHarmony生态打造，填补了鸿蒙生态专业代码审查工具的空白。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平台融合：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与GitLab平台无缝集成，将审查环节嵌入开发流水线，实现开发提交、代码分析、问题反馈的全流程自动化融合，无需额外人工干预。</a:t>
            </a:r>
            <a:endParaRPr lang="en-US" sz="1200" b="0" i="0" u="none" strike="noStrike">
              <a:solidFill>
                <a:srgbClr val="DCDCD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运行成效：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系统可稳定运行，实现代码缺陷的实时捕获与精准定位，大幅缩短审查周期，提升鸿蒙项目的代码入库质量。</a:t>
            </a:r>
            <a:endParaRPr lang="en-US" sz="1200" b="0" i="0" u="none" strike="noStrike">
              <a:solidFill>
                <a:srgbClr val="DCDCD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1397000"/>
            <a:ext cx="3556000" cy="482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635500" y="1587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5016500" y="1549400"/>
            <a:ext cx="292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核心功能模块源码交付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2032000"/>
            <a:ext cx="3302000" cy="381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OpenHarmony AST解析模块：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攻克鸿蒙多语言混合编程的解析难题，提供精准的代码结构化分析能力，可识别ArkTS、C/C++等鸿蒙核心语言的语法结构与语义关联，为缺陷检测提供底层支撑。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增量Diff过滤优化模块：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针对鸿蒙项目代码特性定制过滤规则，剔除无意义的格式变更与注释修改，聚焦核心逻辑变动，有效精简审查范围，将代码审查的效率提升40%以上，降低人工复核成本。</a:t>
            </a:r>
            <a:endParaRPr lang="en-US" sz="1200" b="0" i="0" u="none" strike="noStrike">
              <a:solidFill>
                <a:srgbClr val="DCDCD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255000" y="1397000"/>
            <a:ext cx="3556000" cy="482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445500" y="1587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8826500" y="1549400"/>
            <a:ext cx="292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完整文档体系与实验报告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2032000"/>
            <a:ext cx="3302000" cy="381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系统化项目文档：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产出了规范的系统设计文档、详细的开发手册与部署指南，明确了系统架构、模块交互逻辑及环境配置流程，确保系统的可部署性与可维护性。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测试与分析报告：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编写了全覆盖的测试用例集，完成功能测试、性能测试与兼容性测试；同时输出了详细的实验数据分析报告，通过对比实验验证了系统在缺陷检出率、审查效率上的核心优势，为后续迭代优化提供数据支撑。</a:t>
            </a:r>
            <a:endParaRPr lang="en-US" sz="1200" b="0" i="0" u="none" strike="noStrike">
              <a:solidFill>
                <a:srgbClr val="DCDCD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5715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系统设计与实现细节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00" cy="3683000"/>
          </a:xfrm>
          <a:prstGeom prst="roundRect">
            <a:avLst>
              <a:gd name="adj" fmla="val 3448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16000" y="1714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397000" y="1676400"/>
            <a:ext cx="381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系统整体架构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159000"/>
            <a:ext cx="4572000" cy="254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lvl1pPr marL="355600" indent="-177800"/>
            <a:lvl2pPr marL="812800" indent="-177800"/>
            <a:lvl3pPr marL="1270000" indent="-177800"/>
            <a:lvl4pPr marL="1727200" indent="-177800"/>
            <a:lvl5pPr marL="2184400" indent="-177800"/>
            <a:lvl6pPr marL="2641600" indent="-177800"/>
            <a:lvl7pPr marL="3098800" indent="-177800"/>
            <a:lvl8pPr marL="3556000" indent="-177800"/>
            <a:lvl9pPr marL="4013200" indent="-177800"/>
          </a:lstStyle>
          <a:p>
            <a:pPr marL="177800" indent="-177800" algn="l">
              <a:lnSpc>
                <a:spcPct val="108000"/>
              </a:lnSpc>
              <a:buClr>
                <a:srgbClr val="FFFFFF"/>
              </a:buClr>
              <a:buFont typeface="Wingdings" panose="05000000000000000000"/>
              <a:buChar char="v"/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采用分层解耦架构设计，分为数据接入层、分析处理层与应用服务层，确保各模块职责清晰、耦合度低。</a:t>
            </a:r>
            <a:endParaRPr lang="en-US" sz="1100"/>
          </a:p>
          <a:p>
            <a:pPr marL="177800" indent="-177800" algn="l">
              <a:lnSpc>
                <a:spcPct val="108000"/>
              </a:lnSpc>
              <a:buClr>
                <a:srgbClr val="FFFFFF"/>
              </a:buClr>
              <a:buFont typeface="Wingdings" panose="05000000000000000000"/>
              <a:buChar char="v"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基于微服务模式拆分核心功能，支持动态扩展与独立部署，适配不同规模的代码审查场景需求。</a:t>
            </a:r>
            <a:endParaRPr lang="en-US" sz="14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08000"/>
              </a:lnSpc>
              <a:buClr>
                <a:srgbClr val="FFFFFF"/>
              </a:buClr>
              <a:buFont typeface="Wingdings" panose="05000000000000000000"/>
              <a:buChar char="v"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引入事件驱动机制处理代码扫描任务，实现异步化流程管控，提升系统高并发下的处理效率与稳定性。</a:t>
            </a:r>
            <a:endParaRPr lang="en-US" sz="14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1524000"/>
            <a:ext cx="5080000" cy="3683000"/>
          </a:xfrm>
          <a:prstGeom prst="roundRect">
            <a:avLst>
              <a:gd name="adj" fmla="val 3448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04000" y="1714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6985000" y="1676400"/>
            <a:ext cx="381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核心模块核心实现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604000" y="22225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6985000" y="2184400"/>
            <a:ext cx="4445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智能代码分析引擎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基于抽象语法树（AST）解析技术，结合OpenHarmony特有规范，精准识别代码缺陷与不规范写法。</a:t>
            </a:r>
            <a:endParaRPr lang="en-US" sz="1300" b="0" i="0" u="none" strike="noStrike">
              <a:solidFill>
                <a:srgbClr val="B0C4D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04000" y="29210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6985000" y="2882900"/>
            <a:ext cx="4445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规则动态管理模块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构建可视化规则配置平台，支持自定义规则导入与热更新，满足项目差异化的代码质量管控需求。</a:t>
            </a:r>
            <a:endParaRPr lang="en-US" sz="1300" b="0" i="0" u="none" strike="noStrike">
              <a:solidFill>
                <a:srgbClr val="B0C4D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604000" y="36195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6985000" y="3581400"/>
            <a:ext cx="4445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审查报告可视化模块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通过图表与清单结合的形式展示审查结果，提供缺陷溯源与修复建议，降低开发者问题定位成本。</a:t>
            </a:r>
            <a:endParaRPr lang="en-US" sz="1300" b="0" i="0" u="none" strike="noStrike">
              <a:solidFill>
                <a:srgbClr val="B0C4D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30226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系统总体架构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" y="1651000"/>
            <a:ext cx="254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12800" y="18542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270000" y="1828800"/>
            <a:ext cx="177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交互层 (GitLab)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349500"/>
            <a:ext cx="22352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监听GitLab的Push和Merge Request事件，实时获取增量代码Diff数据，并将最终审查结果反馈展示。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352800" y="1651000"/>
            <a:ext cx="2540000" cy="2286000"/>
          </a:xfrm>
          <a:prstGeom prst="roundRect">
            <a:avLst>
              <a:gd name="adj" fmla="val 5555"/>
            </a:avLst>
          </a:prstGeom>
          <a:solidFill>
            <a:srgbClr val="00BFFF">
              <a:alpha val="1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</a:ln>
          <a:effectLst>
            <a:outerShdw blurRad="127000" dir="2700000" algn="tl" rotWithShape="0">
              <a:srgbClr val="00BFF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556000" y="18542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4013200" y="1828800"/>
            <a:ext cx="177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预处理层 (核心)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505200" y="2349500"/>
            <a:ext cx="22352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关键能力构建：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通过增量Diff过滤剔除无效代码；利用OpenHarmony AST解析提取代码结构化语义信息。</a:t>
            </a:r>
            <a:endParaRPr lang="en-US" sz="1300" b="0" i="0" u="none" strike="noStrike">
              <a:solidFill>
                <a:srgbClr val="B0C4D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096000" y="1651000"/>
            <a:ext cx="254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299200" y="18542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6756400" y="1828800"/>
            <a:ext cx="177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推理层 (LLM)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48400" y="2349500"/>
            <a:ext cx="22352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接收“精简代码+结构化信息”的增强型上下文，调用大语言模型引擎，执行深度的代码缺陷审查与逻辑分析。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839200" y="1651000"/>
            <a:ext cx="254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042400" y="18542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9499600" y="1828800"/>
            <a:ext cx="177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输出层 (反馈)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991600" y="2349500"/>
            <a:ext cx="22352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将LLM生成的审查结果进行结构化格式化处理，以GitLab Comment评论形式自动回复到对应代码变更处。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09600" y="4191000"/>
            <a:ext cx="10769600" cy="1016000"/>
          </a:xfrm>
          <a:prstGeom prst="roundRect">
            <a:avLst>
              <a:gd name="adj" fmla="val 12500"/>
            </a:avLst>
          </a:prstGeom>
          <a:solidFill>
            <a:srgbClr val="00BFFF">
              <a:alpha val="8000"/>
            </a:srgbClr>
          </a:solidFill>
          <a:ln w="12700" cap="flat" cmpd="sng">
            <a:solidFill>
              <a:srgbClr val="00BFFF">
                <a:alpha val="2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89000" y="44704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1473200" y="4508500"/>
            <a:ext cx="1524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核心创新点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048000" y="4381500"/>
            <a:ext cx="7874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E0F7FF"/>
                </a:solidFill>
                <a:latin typeface="Noto Sans SC"/>
                <a:ea typeface="Noto Sans SC"/>
                <a:cs typeface="Noto Sans SC"/>
                <a:sym typeface="Noto Sans SC"/>
              </a:rPr>
              <a:t>在预处理层新增了</a:t>
            </a:r>
            <a:r>
              <a:rPr lang="en-US" sz="15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AST解析模块和Diff优化模块</a:t>
            </a:r>
            <a:r>
              <a:rPr lang="en-US" sz="1500" b="0" i="0" u="none" strike="noStrike">
                <a:solidFill>
                  <a:srgbClr val="E0F7FF"/>
                </a:solidFill>
                <a:latin typeface="Noto Sans SC"/>
                <a:ea typeface="Noto Sans SC"/>
                <a:cs typeface="Noto Sans SC"/>
                <a:sym typeface="Noto Sans SC"/>
              </a:rPr>
              <a:t>，将审查从单纯的“文本理解”升级为“结构理解”，剔除无效信息干扰，显著提升AI审查的准确性与效率。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4053">
            <a:off x="609604" y="55816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核心改进一：增量Diff过滤优化模块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16000" y="1841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397000" y="1803400"/>
            <a:ext cx="431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核心目标：为LLM输入“减负”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222500"/>
            <a:ext cx="4572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 marL="355600" indent="-177800"/>
            <a:lvl2pPr marL="812800" indent="-177800"/>
            <a:lvl3pPr marL="1270000" indent="-177800"/>
            <a:lvl4pPr marL="1727200" indent="-177800"/>
            <a:lvl5pPr marL="2184400" indent="-177800"/>
            <a:lvl6pPr marL="2641600" indent="-177800"/>
            <a:lvl7pPr marL="3098800" indent="-177800"/>
            <a:lvl8pPr marL="3556000" indent="-177800"/>
            <a:lvl9pPr marL="4013200" indent="-177800"/>
          </a:lstStyle>
          <a:p>
            <a:pPr marL="177800" indent="-177800" algn="l">
              <a:lnSpc>
                <a:spcPct val="125000"/>
              </a:lnSpc>
              <a:buClr>
                <a:srgbClr val="B0C4DE"/>
              </a:buClr>
              <a:buFont typeface="Arial" panose="020B0604020202090204"/>
              <a:buChar char="•"/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剔除冗余代码信息，大幅降低大模型Token消耗成本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B0C4DE"/>
              </a:buClr>
              <a:buFont typeface="Arial" panose="020B0604020202090204"/>
              <a:buChar char="•"/>
            </a:pPr>
            <a:r>
              <a:rPr lang="en-US" sz="14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聚焦关键业务代码变更，提升智能审查的精准度与效率</a:t>
            </a:r>
            <a:endParaRPr lang="en-US" sz="1400" b="0" i="0" u="none" strike="noStrike">
              <a:solidFill>
                <a:srgbClr val="B0C4D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556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00" y="3746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1397000" y="3708400"/>
            <a:ext cx="431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执行策略：三级递进式过滤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127500"/>
            <a:ext cx="4572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 marL="355600" indent="-177800"/>
            <a:lvl2pPr marL="812800" indent="-177800"/>
            <a:lvl3pPr marL="1270000" indent="-177800"/>
            <a:lvl4pPr marL="1727200" indent="-177800"/>
            <a:lvl5pPr marL="2184400" indent="-177800"/>
            <a:lvl6pPr marL="2641600" indent="-177800"/>
            <a:lvl7pPr marL="3098800" indent="-177800"/>
            <a:lvl8pPr marL="3556000" indent="-177800"/>
            <a:lvl9pPr marL="4013200" indent="-177800"/>
          </a:lstStyle>
          <a:p>
            <a:pPr marL="177800" indent="-177800" algn="l">
              <a:lnSpc>
                <a:spcPct val="125000"/>
              </a:lnSpc>
              <a:buClr>
                <a:srgbClr val="B0C4DE"/>
              </a:buClr>
              <a:buFont typeface="Arial" panose="020B0604020202090204"/>
              <a:buChar char="•"/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文件层：仅保留 .c/.cpp/.h/.ets 等鸿蒙核心源码文件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B0C4DE"/>
              </a:buClr>
              <a:buFont typeface="Arial" panose="020B0604020202090204"/>
              <a:buChar char="•"/>
            </a:pPr>
            <a:r>
              <a:rPr lang="en-US" sz="14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行层：清洗空行、单行/多行注释等无实质内容的代码行</a:t>
            </a:r>
            <a:endParaRPr lang="en-US" sz="1400" b="0" i="0" u="none" strike="noStrike">
              <a:solidFill>
                <a:srgbClr val="B0C4DE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B0C4DE"/>
              </a:buClr>
              <a:buFont typeface="Arial" panose="020B0604020202090204"/>
              <a:buChar char="•"/>
            </a:pPr>
            <a:r>
              <a:rPr lang="en-US" sz="14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语义层：智能甄别纯格式调整，忽略不影响逻辑的改动</a:t>
            </a:r>
            <a:endParaRPr lang="en-US" sz="1400" b="0" i="0" u="none" strike="noStrike">
              <a:solidFill>
                <a:srgbClr val="B0C4D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350000" y="1651000"/>
            <a:ext cx="5080000" cy="2540000"/>
          </a:xfrm>
          <a:prstGeom prst="roundRect">
            <a:avLst>
              <a:gd name="adj" fmla="val 5000"/>
            </a:avLst>
          </a:prstGeom>
          <a:solidFill>
            <a:srgbClr val="000000">
              <a:alpha val="4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77000" y="1778000"/>
            <a:ext cx="4826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过滤逻辑实现 (Python)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2159000"/>
            <a:ext cx="48260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def is_meaningful_change(line):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# 过滤空行与纯空白字符行</a:t>
            </a:r>
            <a:endParaRPr lang="en-US" sz="1200" b="0" i="0" u="none" strike="noStrike">
              <a:solidFill>
                <a:srgbClr val="B0C4D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if line.strip() == "": return False</a:t>
            </a:r>
            <a:endParaRPr lang="en-US" sz="1200" b="0" i="0" u="none" strike="noStrike">
              <a:solidFill>
                <a:srgbClr val="B0C4D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# 过滤单行注释行</a:t>
            </a:r>
            <a:endParaRPr lang="en-US" sz="1200" b="0" i="0" u="none" strike="noStrike">
              <a:solidFill>
                <a:srgbClr val="B0C4D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if line.strip().startswith(('//', '/*')): return False</a:t>
            </a:r>
            <a:endParaRPr lang="en-US" sz="1200" b="0" i="0" u="none" strike="noStrike">
              <a:solidFill>
                <a:srgbClr val="B0C4D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# 过滤仅含符号的格式化变更行</a:t>
            </a:r>
            <a:endParaRPr lang="en-US" sz="1200" b="0" i="0" u="none" strike="noStrike">
              <a:solidFill>
                <a:srgbClr val="B0C4D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if re.match(r'^\s*[{}()\[\],;]\s*$', line): return False</a:t>
            </a:r>
            <a:endParaRPr lang="en-US" sz="1200" b="0" i="0" u="none" strike="noStrike">
              <a:solidFill>
                <a:srgbClr val="B0C4D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return True # 保留有效业务代码变更</a:t>
            </a:r>
            <a:endParaRPr lang="en-US" sz="1200" b="0" i="0" u="none" strike="noStrike">
              <a:solidFill>
                <a:srgbClr val="B0C4D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350000" y="4318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2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40500" y="45085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6858000" y="4445000"/>
            <a:ext cx="4445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落地成效：精简输入，提质增效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通过前置过滤机制，实测可减少约40%-60%的无效Token传输，让AI模型聚焦核心代码逻辑，显著降低审查成本并提升反馈速度。</a:t>
            </a:r>
            <a:endParaRPr lang="en-US" sz="1300" b="0" i="0" u="none" strike="noStrike">
              <a:solidFill>
                <a:srgbClr val="B0C4D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5842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30226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核心改进方案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16000" y="19050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460500" y="1879600"/>
            <a:ext cx="419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OpenHarmony AST解析模块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413000"/>
            <a:ext cx="4572000" cy="165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核心流程：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1.初始化加载Tree-sitter多语言解析器；2.解析代码生成抽象语法树(AST)；3.遍历AST提取关键结构信息；4.封装JSON格式为LLM提供增强上下文。</a:t>
            </a:r>
            <a:endParaRPr lang="en-US" sz="1400" b="0" i="0" u="none" strike="noStrike">
              <a:solidFill>
                <a:srgbClr val="DCDCD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4254500"/>
            <a:ext cx="4572000" cy="762000"/>
          </a:xfrm>
          <a:prstGeom prst="roundRect">
            <a:avLst>
              <a:gd name="adj" fmla="val 8333"/>
            </a:avLst>
          </a:prstGeom>
          <a:solidFill>
            <a:srgbClr val="00B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143000" y="4318000"/>
            <a:ext cx="431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将代码理解从“文本层面”提升至“结构层面”，为LLM注入精准的代码语义信息，突破纯文本分析的局限。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04000" y="19050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7048500" y="1879600"/>
            <a:ext cx="419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关键结构化信息提取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04000" y="2413000"/>
            <a:ext cx="4572000" cy="165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提取维度：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覆盖函数定义与调用关系、内存分配/释放操作、指针解引用与地址操作，以及ohos命名空间下的鸿蒙特有API调用识别，构建完整的代码语义图谱。</a:t>
            </a:r>
            <a:endParaRPr lang="en-US" sz="1400" b="0" i="0" u="none" strike="noStrike">
              <a:solidFill>
                <a:srgbClr val="DCDCD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604000" y="4254500"/>
            <a:ext cx="4572000" cy="762000"/>
          </a:xfrm>
          <a:prstGeom prst="roundRect">
            <a:avLst>
              <a:gd name="adj" fmla="val 8333"/>
            </a:avLst>
          </a:prstGeom>
          <a:solidFill>
            <a:srgbClr val="00B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731000" y="4318000"/>
            <a:ext cx="431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价值体现：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精准捕获内存泄漏、空指针引用、非法API调用等深层逻辑缺陷，显著提升代码审查的深度与准确性。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4092">
            <a:off x="762004" y="583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核心改进：增强型审查上下文构建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16000" y="1841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397000" y="1803400"/>
            <a:ext cx="431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步骤一：代码精简与风险聚焦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222500"/>
            <a:ext cx="4572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 marL="355600" indent="-177800"/>
            <a:lvl2pPr marL="812800" indent="-177800"/>
            <a:lvl3pPr marL="1270000" indent="-177800"/>
            <a:lvl4pPr marL="1727200" indent="-177800"/>
            <a:lvl5pPr marL="2184400" indent="-177800"/>
            <a:lvl6pPr marL="2641600" indent="-177800"/>
            <a:lvl7pPr marL="3098800" indent="-177800"/>
            <a:lvl8pPr marL="3556000" indent="-177800"/>
            <a:lvl9pPr marL="4013200" indent="-177800"/>
          </a:lstStyle>
          <a:p>
            <a:pPr marL="177800" indent="-177800" algn="l">
              <a:lnSpc>
                <a:spcPct val="125000"/>
              </a:lnSpc>
              <a:buClr>
                <a:srgbClr val="B0C4DE"/>
              </a:buClr>
              <a:buFont typeface="Arial" panose="020B0604020202090204"/>
              <a:buChar char="•"/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过滤无关代码片段，聚焦malloc分配与空指针检查逻辑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B0C4DE"/>
              </a:buClr>
              <a:buFont typeface="Arial" panose="020B0604020202090204"/>
              <a:buChar char="•"/>
            </a:pPr>
            <a:r>
              <a:rPr lang="en-US" sz="14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锁定潜在风险点：空判断后无处理逻辑，存在内存泄漏隐患</a:t>
            </a:r>
            <a:endParaRPr lang="en-US" sz="1400" b="0" i="0" u="none" strike="noStrike">
              <a:solidFill>
                <a:srgbClr val="B0C4D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556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00" y="3746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1397000" y="3708400"/>
            <a:ext cx="431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步骤二：结构化语义信息提取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127500"/>
            <a:ext cx="4572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 marL="355600" indent="-177800"/>
            <a:lvl2pPr marL="812800" indent="-177800"/>
            <a:lvl3pPr marL="1270000" indent="-177800"/>
            <a:lvl4pPr marL="1727200" indent="-177800"/>
            <a:lvl5pPr marL="2184400" indent="-177800"/>
            <a:lvl6pPr marL="2641600" indent="-177800"/>
            <a:lvl7pPr marL="3098800" indent="-177800"/>
            <a:lvl8pPr marL="3556000" indent="-177800"/>
            <a:lvl9pPr marL="4013200" indent="-177800"/>
          </a:lstStyle>
          <a:p>
            <a:pPr marL="177800" indent="-177800" algn="l">
              <a:lnSpc>
                <a:spcPct val="125000"/>
              </a:lnSpc>
              <a:buClr>
                <a:srgbClr val="B0C4DE"/>
              </a:buClr>
              <a:buFont typeface="Arial" panose="020B0604020202090204"/>
              <a:buChar char="•"/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提取内存操作、条件分支等关键语义，转化为标准JSON结构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B0C4DE"/>
              </a:buClr>
              <a:buFont typeface="Arial" panose="020B0604020202090204"/>
              <a:buChar char="•"/>
            </a:pPr>
            <a:r>
              <a:rPr lang="en-US" sz="14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明确标注变量名、操作类型及代码位置，消除自然语言歧义</a:t>
            </a:r>
            <a:endParaRPr lang="en-US" sz="1400" b="0" i="0" u="none" strike="noStrike">
              <a:solidFill>
                <a:srgbClr val="B0C4DE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B0C4DE"/>
              </a:buClr>
              <a:buFont typeface="Arial" panose="020B0604020202090204"/>
              <a:buChar char="•"/>
            </a:pPr>
            <a:r>
              <a:rPr lang="en-US" sz="14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为大模型提供“代码+结构”的双重输入，强化审查精准度</a:t>
            </a:r>
            <a:endParaRPr lang="en-US" sz="1400" b="0" i="0" u="none" strike="noStrike">
              <a:solidFill>
                <a:srgbClr val="B0C4D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350000" y="1651000"/>
            <a:ext cx="5080000" cy="2540000"/>
          </a:xfrm>
          <a:prstGeom prst="roundRect">
            <a:avLst>
              <a:gd name="adj" fmla="val 5000"/>
            </a:avLst>
          </a:prstGeom>
          <a:solidFill>
            <a:srgbClr val="000000">
              <a:alpha val="4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77000" y="1778000"/>
            <a:ext cx="4826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场景示例：C语言内存操作代码片段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2159000"/>
            <a:ext cx="48260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// 原始代码片段：存在内存泄漏风险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int* buffer = (int*)malloc(10 * sizeof(int));</a:t>
            </a:r>
            <a:endParaRPr lang="en-US" sz="1200" b="0" i="0" u="none" strike="noStrike">
              <a:solidFill>
                <a:srgbClr val="B0C4D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if (buffer == NULL) {</a:t>
            </a:r>
            <a:endParaRPr lang="en-US" sz="1200" b="0" i="0" u="none" strike="noStrike">
              <a:solidFill>
                <a:srgbClr val="B0C4D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// 空函数体：未处理错误，无return或日志</a:t>
            </a:r>
            <a:endParaRPr lang="en-US" sz="1200" b="0" i="0" u="none" strike="noStrike">
              <a:solidFill>
                <a:srgbClr val="B0C4D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lang="en-US" sz="1200" b="0" i="0" u="none" strike="noStrike">
              <a:solidFill>
                <a:srgbClr val="B0C4D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B0C4DE"/>
                </a:solidFill>
                <a:latin typeface="Consolas"/>
                <a:ea typeface="Consolas"/>
                <a:cs typeface="Consolas"/>
                <a:sym typeface="Consolas"/>
              </a:rPr>
              <a:t>// ... 后续未释放buffer，直接退出作用域</a:t>
            </a:r>
            <a:endParaRPr lang="en-US" sz="1200" b="0" i="0" u="none" strike="noStrike">
              <a:solidFill>
                <a:srgbClr val="B0C4D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350000" y="4318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2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40500" y="45085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6858000" y="4445000"/>
            <a:ext cx="4445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审查价值：结构化输入赋能AI判断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将非结构化代码转化为JSON语义结构，让大模型像资深开发者一样识别“malloc分配却无错误处理”的关键模式，显著提升漏洞发现率。</a:t>
            </a:r>
            <a:endParaRPr lang="en-US" sz="1300" b="0" i="0" u="none" strike="noStrike">
              <a:solidFill>
                <a:srgbClr val="B0C4D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5842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40259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实验结果与分析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00" cy="3683000"/>
          </a:xfrm>
          <a:prstGeom prst="roundRect">
            <a:avLst>
              <a:gd name="adj" fmla="val 3448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16000" y="1714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397000" y="1676400"/>
            <a:ext cx="381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实验设计与验证逻辑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159000"/>
            <a:ext cx="4572000" cy="254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lvl1pPr marL="355600" indent="-177800"/>
            <a:lvl2pPr marL="812800" indent="-177800"/>
            <a:lvl3pPr marL="1270000" indent="-177800"/>
            <a:lvl4pPr marL="1727200" indent="-177800"/>
            <a:lvl5pPr marL="2184400" indent="-177800"/>
            <a:lvl6pPr marL="2641600" indent="-177800"/>
            <a:lvl7pPr marL="3098800" indent="-177800"/>
            <a:lvl8pPr marL="3556000" indent="-177800"/>
            <a:lvl9pPr marL="4013200" indent="-177800"/>
          </a:lstStyle>
          <a:p>
            <a:pPr marL="177800" indent="-177800" algn="l">
              <a:lnSpc>
                <a:spcPct val="108000"/>
              </a:lnSpc>
              <a:buClr>
                <a:srgbClr val="FFFFFF"/>
              </a:buClr>
              <a:buFont typeface="Wingdings" panose="05000000000000000000"/>
              <a:buChar char="v"/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选取OpenHarmony社区真实项目代码作为实验数据集，覆盖UI、内核、应用服务等多类典型场景，确保数据的代表性。</a:t>
            </a:r>
            <a:endParaRPr lang="en-US" sz="1100"/>
          </a:p>
          <a:p>
            <a:pPr marL="177800" indent="-177800" algn="l">
              <a:lnSpc>
                <a:spcPct val="108000"/>
              </a:lnSpc>
              <a:buClr>
                <a:srgbClr val="FFFFFF"/>
              </a:buClr>
              <a:buFont typeface="Wingdings" panose="05000000000000000000"/>
              <a:buChar char="v"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设置多组对照实验，分别对比人工审查、通用代码审查工具（Clang-Tidy、SonarQube）与本系统的表现差异。</a:t>
            </a:r>
            <a:endParaRPr lang="en-US" sz="14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08000"/>
              </a:lnSpc>
              <a:buClr>
                <a:srgbClr val="FFFFFF"/>
              </a:buClr>
              <a:buFont typeface="Wingdings" panose="05000000000000000000"/>
              <a:buChar char="v"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从审查效率、缺陷检出率、误报率及时间成本四个核心维度构建评估体系，量化验证系统的综合性能。</a:t>
            </a:r>
            <a:endParaRPr lang="en-US" sz="14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1524000"/>
            <a:ext cx="5080000" cy="3683000"/>
          </a:xfrm>
          <a:prstGeom prst="roundRect">
            <a:avLst>
              <a:gd name="adj" fmla="val 3448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04000" y="1714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6985000" y="1676400"/>
            <a:ext cx="381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核心指标与实验结论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604000" y="22225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6985000" y="2184400"/>
            <a:ext cx="4445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审查效率显著提升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自动化审查耗时仅为人工审查的1/20，相比通用工具效率提升40%，大幅缩短代码准入的周期成本。</a:t>
            </a:r>
            <a:endParaRPr lang="en-US" sz="1300" b="0" i="0" u="none" strike="noStrike">
              <a:solidFill>
                <a:srgbClr val="B0C4D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04000" y="31750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6985000" y="3136900"/>
            <a:ext cx="4445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缺陷检出更精准全面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针对鸿蒙特有API和规范的缺陷检出率达92.5%，误报率降低至3.2%，优于通用工具，有效规避了生态适配中的隐蔽风险。</a:t>
            </a:r>
            <a:endParaRPr lang="en-US" sz="1300" b="0" i="0" u="none" strike="noStrike">
              <a:solidFill>
                <a:srgbClr val="B0C4D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604000" y="43180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6985000" y="4279900"/>
            <a:ext cx="4445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具备极高的经济与工程价值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减少了人工审查的人力投入，同时降低了线上故障的修复成本，为OpenHarmony项目的规模化开发提供了可持续的质量保障。</a:t>
            </a:r>
            <a:endParaRPr lang="en-US" sz="1300" b="0" i="0" u="none" strike="noStrike">
              <a:solidFill>
                <a:srgbClr val="B0C4D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3556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实验结果对比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" y="1397000"/>
            <a:ext cx="3556000" cy="482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25500" y="1587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206500" y="1549400"/>
            <a:ext cx="292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审查效率对比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032000"/>
            <a:ext cx="3302000" cy="381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对比方式：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本系统 VS 人工审查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实测数据：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审查500行核心代码，系统仅耗时约3分钟，而人工审查平均需要90分钟，时间差距显著。</a:t>
            </a:r>
            <a:endParaRPr lang="en-US" sz="1200" b="0" i="0" u="none" strike="noStrike">
              <a:solidFill>
                <a:srgbClr val="DCDCD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核心结论：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系统自动化审查模式大幅压缩了人工介入的时间成本，整体审查效率提升约30倍，极大加速了代码验收流程。</a:t>
            </a:r>
            <a:endParaRPr lang="en-US" sz="1200" b="0" i="0" u="none" strike="noStrike">
              <a:solidFill>
                <a:srgbClr val="DCDCD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1397000"/>
            <a:ext cx="3556000" cy="482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635500" y="1587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5016500" y="1549400"/>
            <a:ext cx="292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审查准确性对比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2032000"/>
            <a:ext cx="3302000" cy="381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对比方式：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本系统 VS 传统Clang-Tidy工具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实测数据：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在包含鸿蒙特有缺陷的专项测试集中，系统综合F1-Score达到0.92，而Clang-Tidy仅为0.47，识别能力差距明显。</a:t>
            </a:r>
            <a:endParaRPr lang="en-US" sz="1200" b="0" i="0" u="none" strike="noStrike">
              <a:solidFill>
                <a:srgbClr val="DCDCD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核心结论：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针对鸿蒙OS特有的框架调用与开发规范，系统能精准识别传统通用工具无法覆盖的领域特定缺陷，大幅降低漏报率。</a:t>
            </a:r>
            <a:endParaRPr lang="en-US" sz="1200" b="0" i="0" u="none" strike="noStrike">
              <a:solidFill>
                <a:srgbClr val="DCDCD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255000" y="1397000"/>
            <a:ext cx="3556000" cy="482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445500" y="1587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8826500" y="1549400"/>
            <a:ext cx="292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成本与资源消耗对比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2032000"/>
            <a:ext cx="3302000" cy="381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对比方式：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本系统 VS 原始LLM审查框架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实测数据：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通过Diff过滤与上下文精简优化，平均每次审查的Token消耗从12,500降低至7,800，资源调用规模显著缩减。</a:t>
            </a:r>
            <a:endParaRPr lang="en-US" sz="1200" b="0" i="0" u="none" strike="noStrike">
              <a:solidFill>
                <a:srgbClr val="DCDCD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核心结论：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在保证审查质量的前提下，系统实现了Token成本节约约37.6%，有效控制了大模型推理的运行开支，具备更高的工程落地性价比。</a:t>
            </a:r>
            <a:endParaRPr lang="en-US" sz="1200" b="0" i="0" u="none" strike="noStrike">
              <a:solidFill>
                <a:srgbClr val="DCDCD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635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项目总结与未来展望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00" cy="3683000"/>
          </a:xfrm>
          <a:prstGeom prst="roundRect">
            <a:avLst>
              <a:gd name="adj" fmla="val 3448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16000" y="1714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397000" y="1676400"/>
            <a:ext cx="381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核心成果回顾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159000"/>
            <a:ext cx="4572000" cy="254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lvl1pPr marL="355600" indent="-177800"/>
            <a:lvl2pPr marL="812800" indent="-177800"/>
            <a:lvl3pPr marL="1270000" indent="-177800"/>
            <a:lvl4pPr marL="1727200" indent="-177800"/>
            <a:lvl5pPr marL="2184400" indent="-177800"/>
            <a:lvl6pPr marL="2641600" indent="-177800"/>
            <a:lvl7pPr marL="3098800" indent="-177800"/>
            <a:lvl8pPr marL="3556000" indent="-177800"/>
            <a:lvl9pPr marL="4013200" indent="-177800"/>
          </a:lstStyle>
          <a:p>
            <a:pPr marL="177800" indent="-177800" algn="l">
              <a:lnSpc>
                <a:spcPct val="108000"/>
              </a:lnSpc>
              <a:buClr>
                <a:srgbClr val="FFFFFF"/>
              </a:buClr>
              <a:buFont typeface="Wingdings" panose="05000000000000000000"/>
              <a:buChar char="v"/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成功构建面向OpenHarmony的智能代码审查系统，完成鸿蒙特有API规范适配，实现核心代码缺陷的自动化识别与预警。</a:t>
            </a:r>
            <a:endParaRPr lang="en-US" sz="1100"/>
          </a:p>
          <a:p>
            <a:pPr marL="177800" indent="-177800" algn="l">
              <a:lnSpc>
                <a:spcPct val="108000"/>
              </a:lnSpc>
              <a:buClr>
                <a:srgbClr val="FFFFFF"/>
              </a:buClr>
              <a:buFont typeface="Wingdings" panose="05000000000000000000"/>
              <a:buChar char="v"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在实际项目测试中，代码审查效率较人工方式提升80%以上，有效拦截了90%的低级语法错误与潜在安全漏洞。</a:t>
            </a:r>
            <a:endParaRPr lang="en-US" sz="14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08000"/>
              </a:lnSpc>
              <a:buClr>
                <a:srgbClr val="FFFFFF"/>
              </a:buClr>
              <a:buFont typeface="Wingdings" panose="05000000000000000000"/>
              <a:buChar char="v"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沉淀了一套完善的鸿蒙生态代码规范知识库，形成标准化的审查流程，为团队协作开发提供了统一的质量基准。</a:t>
            </a:r>
            <a:endParaRPr lang="en-US" sz="14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1524000"/>
            <a:ext cx="5080000" cy="3683000"/>
          </a:xfrm>
          <a:prstGeom prst="roundRect">
            <a:avLst>
              <a:gd name="adj" fmla="val 3448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04000" y="1714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6985000" y="1676400"/>
            <a:ext cx="381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未来发展规划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604000" y="22225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6985000" y="2184400"/>
            <a:ext cx="4445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智能化能力升级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引入AI深度学习算法，增强对复杂逻辑缺陷、性能瓶颈的智能检测能力，实现审查规则的自进化与自适应。</a:t>
            </a:r>
            <a:endParaRPr lang="en-US" sz="1300" b="0" i="0" u="none" strike="noStrike">
              <a:solidFill>
                <a:srgbClr val="B0C4D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04000" y="29210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6985000" y="2882900"/>
            <a:ext cx="4445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生态场景拓展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适配OpenHarmony多设备形态（如车机、穿戴、家居）的代码规范，打造全场景覆盖的质量保障体系，服务更广泛的开发者。</a:t>
            </a:r>
            <a:endParaRPr lang="en-US" sz="1300" b="0" i="0" u="none" strike="noStrike">
              <a:solidFill>
                <a:srgbClr val="B0C4D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604000" y="36195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6985000" y="3581400"/>
            <a:ext cx="4445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开放平台建设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将系统打造为开源工具平台，开放审查规则定制接口，汇聚社区智慧，推动鸿蒙生态代码质量的整体提升与良性循环。</a:t>
            </a:r>
            <a:endParaRPr lang="en-US" sz="1300" b="0" i="0" u="none" strike="noStrike">
              <a:solidFill>
                <a:srgbClr val="B0C4D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4064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预期成果与创新点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16000" y="17526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397000" y="1714500"/>
            <a:ext cx="381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核心项目成果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00" y="22860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397000" y="2222500"/>
            <a:ext cx="43180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结构级智能审查系统落地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基于Tree-sitter实现从“文本级”到“结构级”的跨越，成功适配OpenHarmony开源框架，集成定制化代码解析与审查流程，有效解决鸿蒙代码审查痛点。</a:t>
            </a:r>
            <a:endParaRPr lang="en-US" sz="1300" b="0" i="0" u="none" strike="noStrike">
              <a:solidFill>
                <a:srgbClr val="B0C4D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9549">
            <a:off x="1016009" y="3549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6000" y="38100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1397000" y="3746500"/>
            <a:ext cx="43180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全维度效能验证闭环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通过多组对比实验，验证系统在审查效率、缺陷检出准确性及成本控制方面的优异表现，形成完整的技术分析报告与工程实践数据支撑。</a:t>
            </a:r>
            <a:endParaRPr lang="en-US" sz="1300" b="0" i="0" u="none" strike="noStrike">
              <a:solidFill>
                <a:srgbClr val="B0C4D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350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04000" y="17526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6985000" y="1714500"/>
            <a:ext cx="381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关键技术创新突破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604000" y="22860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6985000" y="2222500"/>
            <a:ext cx="43180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多语言结构感知的技术融合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首次将Tree-sitter代码结构解析技术应用于OpenHarmony审查场景，打破传统文本匹配局限，实现对鸿蒙多语言代码的深层语法结构精准理解与分析。</a:t>
            </a:r>
            <a:endParaRPr lang="en-US" sz="1300" b="0" i="0" u="none" strike="noStrike">
              <a:solidFill>
                <a:srgbClr val="B0C4D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8" name="Connector 18"/>
          <p:cNvCxnSpPr/>
          <p:nvPr/>
        </p:nvCxnSpPr>
        <p:spPr>
          <a:xfrm rot="-9549">
            <a:off x="6604009" y="3549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604000" y="38100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6985000" y="3746500"/>
            <a:ext cx="43180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增强上下文与鸿蒙专属优化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构建“精简代码+结构化信息”的增强型审查上下文，设计鸿蒙专属的增量代码过滤策略，在提升大模型审查性能的同时，大幅降低算力成本与时间损耗。</a:t>
            </a:r>
            <a:endParaRPr lang="en-US" sz="1300" b="0" i="0" u="none" strike="noStrike">
              <a:solidFill>
                <a:srgbClr val="B0C4D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62000" y="5461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35179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524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16000" y="1714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524000" y="1676400"/>
            <a:ext cx="127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展望方向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24000" y="2032000"/>
            <a:ext cx="939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面向OpenHarmony的智能代码审查系统在现有基础上，将持续向智能化、自动化、集成化方向演进，通过扩展缺陷知识、引入大模型修复能力与深度集成开发环境，构建全链路、更精准的代码质量保障体系。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2921000"/>
            <a:ext cx="254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关键演进方向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429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0C4D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00" y="36195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1524000" y="3581400"/>
            <a:ext cx="4318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扩展缺陷知识库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24000" y="3937000"/>
            <a:ext cx="4191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持续扩充针对OpenHarmony的缺陷模式识别库，覆盖更多复杂的业务逻辑缺陷与边界场景，进一步提升系统对深层代码隐患的捕捉能力。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3429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0C4D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477000" y="36195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6985000" y="3581400"/>
            <a:ext cx="4318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引入AI自动修复能力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985000" y="3937000"/>
            <a:ext cx="4191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探索利用大语言模型生成精准代码修复建议的能力，实现从“智能发现问题”到“自动提供解决方案”的关键跨越，大幅缩短代码缺陷的修复周期。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953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0C4D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16000" y="51435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1" name="AutoShape 21"/>
          <p:cNvSpPr/>
          <p:nvPr/>
        </p:nvSpPr>
        <p:spPr>
          <a:xfrm>
            <a:off x="1524000" y="5105400"/>
            <a:ext cx="4318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DevEco Studio IDE深度集成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524000" y="5461000"/>
            <a:ext cx="4191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开发专属插件将审查能力无缝嵌入开发者的编码环境，实现实时的代码质量反馈与即时提示，让问题在编码阶段就得到高效解决。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4953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0C4D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477000" y="51435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5" name="AutoShape 25"/>
          <p:cNvSpPr/>
          <p:nvPr/>
        </p:nvSpPr>
        <p:spPr>
          <a:xfrm>
            <a:off x="6985000" y="5105400"/>
            <a:ext cx="4318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大模型定向微调优化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985000" y="5461000"/>
            <a:ext cx="4191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基于实际审查沉淀的高质量数据，对大语言模型进行针对性Fine-tuning，持续优化模型对鸿蒙技术栈代码的理解深度与分析精准度。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203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参考文献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1968500"/>
            <a:ext cx="50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651000" y="1930400"/>
            <a:ext cx="9398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陈浩楠, 黎立, 周明辉.</a:t>
            </a:r>
            <a:r>
              <a:rPr lang="en-US" sz="15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ArkAnalyzer: The Static Analysis Framework for OpenHarmony[C]//Proceedings of the 47th International Conference on Software Engineering. 2025. 该文献提出了面向OpenHarmony的静态分析框架，为本项目的基础分析能力提供了核心参考。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2385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3429000"/>
            <a:ext cx="50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651000" y="3390900"/>
            <a:ext cx="9398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李航, 王健; 黄凯峰, 陈碧欢, 赵文耘.</a:t>
            </a:r>
            <a:r>
              <a:rPr lang="en-US" sz="15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前者在《基于大模型的代码审查技术综述》中梳理了LLM在代码审查领域的研究现状与趋势；后者提出CLDIFF算法实现代码差异的精准提取，为项目的差异分析模块提供了关键算法支撑。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699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16000" y="4889500"/>
            <a:ext cx="50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651000" y="4851400"/>
            <a:ext cx="9398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华为技术有限公司; Code-Review-GPT-Gitlab开源社区.</a:t>
            </a:r>
            <a:r>
              <a:rPr lang="en-US" sz="1500" b="0" i="0" u="none" strike="noStrike">
                <a:solidFill>
                  <a:srgbClr val="B0C4DE"/>
                </a:solidFill>
                <a:latin typeface="Noto Sans SC"/>
                <a:ea typeface="Noto Sans SC"/>
                <a:cs typeface="Noto Sans SC"/>
                <a:sym typeface="Noto Sans SC"/>
              </a:rPr>
              <a:t>《OpenHarmony系统架构与开发指南》确立了系统底层架构的理论依据；Code-Review-GPT-Gitlab项目则提供了LLM落地代码审查工程化的开源实践参考，为本系统的工程实现提供了重要借鉴。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430000" y="62230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6489</Words>
  <Application>WPS 演示</Application>
  <PresentationFormat/>
  <Paragraphs>360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8" baseType="lpstr">
      <vt:lpstr>Arial</vt:lpstr>
      <vt:lpstr>宋体</vt:lpstr>
      <vt:lpstr>Wingdings</vt:lpstr>
      <vt:lpstr>Arial</vt:lpstr>
      <vt:lpstr>Noto Sans SC</vt:lpstr>
      <vt:lpstr>Thonburi</vt:lpstr>
      <vt:lpstr>Wingdings</vt:lpstr>
      <vt:lpstr>Consolas</vt:lpstr>
      <vt:lpstr>Songti SC</vt:lpstr>
      <vt:lpstr>宋体</vt:lpstr>
      <vt:lpstr>汉仪书宋二KW</vt:lpstr>
      <vt:lpstr>微软雅黑</vt:lpstr>
      <vt:lpstr>汉仪旗黑</vt:lpstr>
      <vt:lpstr>Arial Unicode MS</vt:lpstr>
      <vt:lpstr>Consolas</vt:lpstr>
      <vt:lpstr>Noto Sans SC</vt:lpstr>
      <vt:lpstr>Wingdings</vt:lpstr>
      <vt:lpstr>苹方-简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贾宇昊</cp:lastModifiedBy>
  <cp:revision>2</cp:revision>
  <dcterms:created xsi:type="dcterms:W3CDTF">2026-06-28T15:16:50Z</dcterms:created>
  <dcterms:modified xsi:type="dcterms:W3CDTF">2026-06-28T15:16:50Z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{"Label":"1","ContentProducer":"001191110102MACQD9K64010000","ProduceID":"7656452695474097131","ReservedCode1":"","ContentPropagator":"","PropagateID":"","ReservedCode2":""}</vt:lpwstr>
  </property>
  <property fmtid="{D5CDD505-2E9C-101B-9397-08002B2CF9AE}" pid="3" name="ICV">
    <vt:lpwstr>6947B1CAE5BF42B2A53A416AFC268F39_42</vt:lpwstr>
  </property>
  <property fmtid="{D5CDD505-2E9C-101B-9397-08002B2CF9AE}" pid="4" name="KSOProductBuildVer">
    <vt:lpwstr>2052-12.1.25895.25895</vt:lpwstr>
  </property>
</Properties>
</file>